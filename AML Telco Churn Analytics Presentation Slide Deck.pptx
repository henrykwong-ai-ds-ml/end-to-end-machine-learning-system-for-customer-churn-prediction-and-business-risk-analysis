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Rectangle 1"/>
          <p:cNvSpPr/>
          <p:nvPr/>
        </p:nvSpPr>
        <p:spPr>
          <a:xfrm>
            <a:off x="0" y="0"/>
            <a:ext cx="457200" cy="6858000"/>
          </a:xfrm>
          <a:prstGeom prst="rect">
            <a:avLst/>
          </a:prstGeom>
          <a:solidFill>
            <a:srgbClr val="0F4C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10058400" cy="365760"/>
          </a:xfrm>
          <a:prstGeom prst="rect">
            <a:avLst/>
          </a:prstGeom>
          <a:noFill/>
        </p:spPr>
        <p:txBody>
          <a:bodyPr wrap="square">
            <a:spAutoFit/>
          </a:bodyPr>
          <a:lstStyle/>
          <a:p>
            <a:pPr>
              <a:defRPr sz="1200" b="1">
                <a:solidFill>
                  <a:srgbClr val="E8985E"/>
                </a:solidFill>
                <a:latin typeface="Arial"/>
              </a:defRPr>
            </a:pPr>
            <a:r>
              <a:t>DATA-DRIVEN RETENTION STRATEGY</a:t>
            </a:r>
          </a:p>
        </p:txBody>
      </p:sp>
      <p:sp>
        <p:nvSpPr>
          <p:cNvPr id="4" name="TextBox 3"/>
          <p:cNvSpPr txBox="1"/>
          <p:nvPr/>
        </p:nvSpPr>
        <p:spPr>
          <a:xfrm>
            <a:off x="1097280" y="2194560"/>
            <a:ext cx="10058400" cy="1828800"/>
          </a:xfrm>
          <a:prstGeom prst="rect">
            <a:avLst/>
          </a:prstGeom>
          <a:noFill/>
        </p:spPr>
        <p:txBody>
          <a:bodyPr wrap="square">
            <a:spAutoFit/>
          </a:bodyPr>
          <a:lstStyle/>
          <a:p>
            <a:pPr>
              <a:defRPr sz="4000" b="1">
                <a:solidFill>
                  <a:srgbClr val="0F4C81"/>
                </a:solidFill>
                <a:latin typeface="Georgia"/>
              </a:defRPr>
            </a:pPr>
            <a:r>
              <a:t>Telco Customer Churn:</a:t>
            </a:r>
            <a:br/>
            <a:r>
              <a:t>Predictive Analytics &amp; Retention Strategy</a:t>
            </a:r>
          </a:p>
        </p:txBody>
      </p:sp>
      <p:sp>
        <p:nvSpPr>
          <p:cNvPr id="5" name="TextBox 4"/>
          <p:cNvSpPr txBox="1"/>
          <p:nvPr/>
        </p:nvSpPr>
        <p:spPr>
          <a:xfrm>
            <a:off x="1097280" y="4114800"/>
            <a:ext cx="10058400" cy="1371600"/>
          </a:xfrm>
          <a:prstGeom prst="rect">
            <a:avLst/>
          </a:prstGeom>
          <a:noFill/>
        </p:spPr>
        <p:txBody>
          <a:bodyPr wrap="square">
            <a:spAutoFit/>
          </a:bodyPr>
          <a:lstStyle/>
          <a:p>
            <a:pPr>
              <a:defRPr sz="1600">
                <a:solidFill>
                  <a:srgbClr val="222222"/>
                </a:solidFill>
                <a:latin typeface="Arial"/>
              </a:defRPr>
            </a:pPr>
            <a:r>
              <a:t>Preparing an End-to-End Machine Learning System for Proactive Risk Mitigation</a:t>
            </a:r>
          </a:p>
          <a:p>
            <a:pPr>
              <a:spcBef>
                <a:spcPts val="1400"/>
              </a:spcBef>
              <a:defRPr sz="1100">
                <a:solidFill>
                  <a:srgbClr val="7E7E7E"/>
                </a:solidFill>
                <a:latin typeface="Arial"/>
              </a:defRPr>
            </a:pPr>
            <a:r>
              <a:t>Designed for Executive Decision Makers  |  Based on Telco Churn Dataset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Executive Summary: Protecting Recurring Revenue with ML Prioritization</a:t>
            </a:r>
          </a:p>
        </p:txBody>
      </p:sp>
      <p:sp>
        <p:nvSpPr>
          <p:cNvPr id="4" name="Rectangle 3"/>
          <p:cNvSpPr/>
          <p:nvPr/>
        </p:nvSpPr>
        <p:spPr>
          <a:xfrm>
            <a:off x="685800" y="1280160"/>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2 of 10</a:t>
            </a:r>
          </a:p>
        </p:txBody>
      </p:sp>
      <p:sp>
        <p:nvSpPr>
          <p:cNvPr id="6" name="TextBox 5"/>
          <p:cNvSpPr txBox="1"/>
          <p:nvPr/>
        </p:nvSpPr>
        <p:spPr>
          <a:xfrm>
            <a:off x="685800" y="1645920"/>
            <a:ext cx="5029200" cy="4114800"/>
          </a:xfrm>
          <a:prstGeom prst="rect">
            <a:avLst/>
          </a:prstGeom>
          <a:noFill/>
        </p:spPr>
        <p:txBody>
          <a:bodyPr wrap="square">
            <a:spAutoFit/>
          </a:bodyPr>
          <a:lstStyle/>
          <a:p>
            <a:pPr>
              <a:defRPr sz="2000" b="1">
                <a:solidFill>
                  <a:srgbClr val="0F4C81"/>
                </a:solidFill>
                <a:latin typeface="Georgia"/>
              </a:defRPr>
            </a:pPr>
            <a:r>
              <a:t>The Business Mandate</a:t>
            </a:r>
          </a:p>
          <a:p>
            <a:pPr>
              <a:spcBef>
                <a:spcPts val="1000"/>
              </a:spcBef>
              <a:spcAft>
                <a:spcPts val="1000"/>
              </a:spcAft>
              <a:defRPr sz="1400">
                <a:solidFill>
                  <a:srgbClr val="222222"/>
                </a:solidFill>
                <a:latin typeface="Arial"/>
              </a:defRPr>
            </a:pPr>
            <a:r>
              <a:t>Customer churn directly erodes recurring revenue. Because retention teams have limited time and budget, the business objective of this project was not simply to classify customers as 'will churn' or 'will not churn,' but to produce reliable churn probabilities.</a:t>
            </a:r>
          </a:p>
          <a:p>
            <a:pPr>
              <a:defRPr sz="1400">
                <a:solidFill>
                  <a:srgbClr val="222222"/>
                </a:solidFill>
                <a:latin typeface="Arial"/>
              </a:defRPr>
            </a:pPr>
            <a:r>
              <a:t>This allows the retention team to prioritize activity while explicitly weighing the cost of false positives (wasted retention spend) against false negatives (lost customer lifetime value).</a:t>
            </a:r>
          </a:p>
        </p:txBody>
      </p:sp>
      <p:sp>
        <p:nvSpPr>
          <p:cNvPr id="7" name="Rounded Rectangle 6"/>
          <p:cNvSpPr/>
          <p:nvPr/>
        </p:nvSpPr>
        <p:spPr>
          <a:xfrm>
            <a:off x="6217920" y="1645920"/>
            <a:ext cx="5303520" cy="1280160"/>
          </a:xfrm>
          <a:prstGeom prst="roundRect">
            <a:avLst/>
          </a:prstGeom>
          <a:solidFill>
            <a:srgbClr val="F0F0F0"/>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137160" tIns="137160" rtlCol="0" anchor="ctr"/>
          <a:lstStyle/>
          <a:p>
            <a:pPr algn="ctr">
              <a:defRPr sz="2200" b="1">
                <a:solidFill>
                  <a:srgbClr val="0F4C81"/>
                </a:solidFill>
                <a:latin typeface="Georgia"/>
              </a:defRPr>
            </a:pPr>
            <a:r>
              <a:t>26.54% Churn Rate</a:t>
            </a:r>
          </a:p>
          <a:p>
            <a:pPr>
              <a:defRPr sz="1100">
                <a:solidFill>
                  <a:srgbClr val="222222"/>
                </a:solidFill>
                <a:latin typeface="Arial"/>
              </a:defRPr>
            </a:pPr>
            <a:r>
              <a:t>Historical baseline (1,869 churners out of 7,043 total customers)</a:t>
            </a:r>
          </a:p>
        </p:txBody>
      </p:sp>
      <p:sp>
        <p:nvSpPr>
          <p:cNvPr id="8" name="Rounded Rectangle 7"/>
          <p:cNvSpPr/>
          <p:nvPr/>
        </p:nvSpPr>
        <p:spPr>
          <a:xfrm>
            <a:off x="6217920" y="3108960"/>
            <a:ext cx="5303520" cy="1280160"/>
          </a:xfrm>
          <a:prstGeom prst="roundRect">
            <a:avLst/>
          </a:prstGeom>
          <a:solidFill>
            <a:srgbClr val="F0F0F0"/>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137160" tIns="137160" rtlCol="0" anchor="ctr"/>
          <a:lstStyle/>
          <a:p>
            <a:pPr algn="ctr">
              <a:defRPr sz="2200" b="1">
                <a:solidFill>
                  <a:srgbClr val="0F4C81"/>
                </a:solidFill>
                <a:latin typeface="Georgia"/>
              </a:defRPr>
            </a:pPr>
            <a:r>
              <a:t>Gradient Boosting</a:t>
            </a:r>
          </a:p>
          <a:p>
            <a:pPr>
              <a:defRPr sz="1100">
                <a:solidFill>
                  <a:srgbClr val="222222"/>
                </a:solidFill>
                <a:latin typeface="Arial"/>
              </a:defRPr>
            </a:pPr>
            <a:r>
              <a:t>Selected algorithm based on superior cross-validated ROC-AUC (0.849)</a:t>
            </a:r>
          </a:p>
        </p:txBody>
      </p:sp>
      <p:sp>
        <p:nvSpPr>
          <p:cNvPr id="9" name="Rounded Rectangle 8"/>
          <p:cNvSpPr/>
          <p:nvPr/>
        </p:nvSpPr>
        <p:spPr>
          <a:xfrm>
            <a:off x="6217920" y="4572000"/>
            <a:ext cx="5303520" cy="1280160"/>
          </a:xfrm>
          <a:prstGeom prst="roundRect">
            <a:avLst/>
          </a:prstGeom>
          <a:solidFill>
            <a:srgbClr val="F0F0F0"/>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137160" tIns="137160" rtlCol="0" anchor="ctr"/>
          <a:lstStyle/>
          <a:p>
            <a:pPr algn="ctr">
              <a:defRPr sz="2200" b="1">
                <a:solidFill>
                  <a:srgbClr val="0F4C81"/>
                </a:solidFill>
                <a:latin typeface="Georgia"/>
              </a:defRPr>
            </a:pPr>
            <a:r>
              <a:t>Actionable Risk Tiers</a:t>
            </a:r>
          </a:p>
          <a:p>
            <a:pPr>
              <a:defRPr sz="1100">
                <a:solidFill>
                  <a:srgbClr val="222222"/>
                </a:solidFill>
                <a:latin typeface="Arial"/>
              </a:defRPr>
            </a:pPr>
            <a:r>
              <a:t>Mitigates silent revenue erosion via probability-driven prioritization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8" name="Rounded Rectangle 7"/>
          <p:cNvSpPr/>
          <p:nvPr/>
        </p:nvSpPr>
        <p:spPr>
          <a:xfrm>
            <a:off x="5138928" y="1481328"/>
            <a:ext cx="6547104" cy="4169664"/>
          </a:xfrm>
          <a:prstGeom prst="roundRect">
            <a:avLst/>
          </a:prstGeom>
          <a:solidFill>
            <a:srgbClr val="FFFFFF"/>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Gradient Boosting Outperformed Other Candidate Models</a:t>
            </a:r>
          </a:p>
        </p:txBody>
      </p:sp>
      <p:sp>
        <p:nvSpPr>
          <p:cNvPr id="4" name="Rectangle 3"/>
          <p:cNvSpPr/>
          <p:nvPr/>
        </p:nvSpPr>
        <p:spPr>
          <a:xfrm>
            <a:off x="685800" y="1280160"/>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3 of 10</a:t>
            </a:r>
          </a:p>
        </p:txBody>
      </p:sp>
      <p:sp>
        <p:nvSpPr>
          <p:cNvPr id="6" name="TextBox 5"/>
          <p:cNvSpPr txBox="1"/>
          <p:nvPr/>
        </p:nvSpPr>
        <p:spPr>
          <a:xfrm>
            <a:off x="685800" y="1645920"/>
            <a:ext cx="4114800" cy="4114800"/>
          </a:xfrm>
          <a:prstGeom prst="rect">
            <a:avLst/>
          </a:prstGeom>
          <a:noFill/>
        </p:spPr>
        <p:txBody>
          <a:bodyPr wrap="square">
            <a:spAutoFit/>
          </a:bodyPr>
          <a:lstStyle/>
          <a:p>
            <a:pPr>
              <a:defRPr sz="2000" b="1">
                <a:solidFill>
                  <a:srgbClr val="0F4C81"/>
                </a:solidFill>
                <a:latin typeface="Georgia"/>
              </a:defRPr>
            </a:pPr>
            <a:r>
              <a:t>The Selection Process</a:t>
            </a:r>
          </a:p>
          <a:p>
            <a:pPr>
              <a:spcBef>
                <a:spcPts val="1000"/>
              </a:spcBef>
              <a:defRPr sz="1400">
                <a:solidFill>
                  <a:srgbClr val="222222"/>
                </a:solidFill>
                <a:latin typeface="Arial"/>
              </a:defRPr>
            </a:pPr>
            <a:r>
              <a:t>Five candidate models were trained and rigorously compared. Performance was evaluated using cross-validation on the training set to prevent overfitting.</a:t>
            </a:r>
          </a:p>
          <a:p>
            <a:pPr>
              <a:spcBef>
                <a:spcPts val="1000"/>
              </a:spcBef>
              <a:defRPr sz="1400">
                <a:solidFill>
                  <a:srgbClr val="222222"/>
                </a:solidFill>
                <a:latin typeface="Arial"/>
              </a:defRPr>
            </a:pPr>
            <a:r>
              <a:t>Gradient Boosting achieved the highest Mean ROC-AUC of 0.848 in baseline CV, which improved to 0.849 after randomized hyperparameter tuning.</a:t>
            </a:r>
          </a:p>
        </p:txBody>
      </p:sp>
      <p:graphicFrame>
        <p:nvGraphicFramePr>
          <p:cNvPr id="7" name="Table 6"/>
          <p:cNvGraphicFramePr>
            <a:graphicFrameLocks noGrp="1"/>
          </p:cNvGraphicFramePr>
          <p:nvPr/>
        </p:nvGraphicFramePr>
        <p:xfrm>
          <a:off x="5303520" y="1645920"/>
          <a:ext cx="6217920" cy="38404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640080">
                <a:tc>
                  <a:txBody>
                    <a:bodyPr/>
                    <a:lstStyle/>
                    <a:p>
                      <a:pPr algn="ctr">
                        <a:defRPr sz="1200" b="1">
                          <a:solidFill>
                            <a:srgbClr val="FFFFFF"/>
                          </a:solidFill>
                          <a:latin typeface="Arial"/>
                        </a:defRPr>
                      </a:pPr>
                      <a:r>
                        <a:t>Model</a:t>
                      </a:r>
                    </a:p>
                  </a:txBody>
                  <a:tcPr>
                    <a:solidFill>
                      <a:srgbClr val="0F4C81"/>
                    </a:solidFill>
                  </a:tcPr>
                </a:tc>
                <a:tc>
                  <a:txBody>
                    <a:bodyPr/>
                    <a:lstStyle/>
                    <a:p>
                      <a:pPr algn="ctr">
                        <a:defRPr sz="1200" b="1">
                          <a:solidFill>
                            <a:srgbClr val="FFFFFF"/>
                          </a:solidFill>
                          <a:latin typeface="Arial"/>
                        </a:defRPr>
                      </a:pPr>
                      <a:r>
                        <a:t>Baseline AUC</a:t>
                      </a:r>
                    </a:p>
                  </a:txBody>
                  <a:tcPr>
                    <a:solidFill>
                      <a:srgbClr val="0F4C81"/>
                    </a:solidFill>
                  </a:tcPr>
                </a:tc>
                <a:tc>
                  <a:txBody>
                    <a:bodyPr/>
                    <a:lstStyle/>
                    <a:p>
                      <a:pPr algn="ctr">
                        <a:defRPr sz="1200" b="1">
                          <a:solidFill>
                            <a:srgbClr val="FFFFFF"/>
                          </a:solidFill>
                          <a:latin typeface="Arial"/>
                        </a:defRPr>
                      </a:pPr>
                      <a:r>
                        <a:t>Tuned AUC</a:t>
                      </a:r>
                    </a:p>
                  </a:txBody>
                  <a:tcPr>
                    <a:solidFill>
                      <a:srgbClr val="0F4C81"/>
                    </a:solidFill>
                  </a:tcPr>
                </a:tc>
                <a:tc>
                  <a:txBody>
                    <a:bodyPr/>
                    <a:lstStyle/>
                    <a:p>
                      <a:pPr algn="ctr">
                        <a:defRPr sz="1200" b="1">
                          <a:solidFill>
                            <a:srgbClr val="FFFFFF"/>
                          </a:solidFill>
                          <a:latin typeface="Arial"/>
                        </a:defRPr>
                      </a:pPr>
                      <a:r>
                        <a:t>Tuned SD</a:t>
                      </a:r>
                    </a:p>
                  </a:txBody>
                  <a:tcPr>
                    <a:solidFill>
                      <a:srgbClr val="0F4C81"/>
                    </a:solidFill>
                  </a:tcPr>
                </a:tc>
                <a:extLst>
                  <a:ext uri="{0D108BD9-81ED-4DB2-BD59-A6C34878D82A}">
                    <a16:rowId xmlns:a16="http://schemas.microsoft.com/office/drawing/2014/main" val="10000"/>
                  </a:ext>
                </a:extLst>
              </a:tr>
              <a:tr h="640080">
                <a:tc>
                  <a:txBody>
                    <a:bodyPr/>
                    <a:lstStyle/>
                    <a:p>
                      <a:pPr algn="l">
                        <a:defRPr sz="1100" b="1">
                          <a:solidFill>
                            <a:srgbClr val="222222"/>
                          </a:solidFill>
                          <a:latin typeface="Arial"/>
                        </a:defRPr>
                      </a:pPr>
                      <a:r>
                        <a:t>Gradient Boosting</a:t>
                      </a:r>
                    </a:p>
                  </a:txBody>
                  <a:tcPr>
                    <a:solidFill>
                      <a:srgbClr val="E6F2FF"/>
                    </a:solidFill>
                  </a:tcPr>
                </a:tc>
                <a:tc>
                  <a:txBody>
                    <a:bodyPr/>
                    <a:lstStyle/>
                    <a:p>
                      <a:pPr algn="ctr">
                        <a:defRPr sz="1100" b="1">
                          <a:solidFill>
                            <a:srgbClr val="222222"/>
                          </a:solidFill>
                          <a:latin typeface="Arial"/>
                        </a:defRPr>
                      </a:pPr>
                      <a:r>
                        <a:t>0.848</a:t>
                      </a:r>
                    </a:p>
                  </a:txBody>
                  <a:tcPr>
                    <a:solidFill>
                      <a:srgbClr val="E6F2FF"/>
                    </a:solidFill>
                  </a:tcPr>
                </a:tc>
                <a:tc>
                  <a:txBody>
                    <a:bodyPr/>
                    <a:lstStyle/>
                    <a:p>
                      <a:pPr algn="ctr">
                        <a:defRPr sz="1100" b="1">
                          <a:solidFill>
                            <a:srgbClr val="222222"/>
                          </a:solidFill>
                          <a:latin typeface="Arial"/>
                        </a:defRPr>
                      </a:pPr>
                      <a:r>
                        <a:t>0.849</a:t>
                      </a:r>
                    </a:p>
                  </a:txBody>
                  <a:tcPr>
                    <a:solidFill>
                      <a:srgbClr val="E6F2FF"/>
                    </a:solidFill>
                  </a:tcPr>
                </a:tc>
                <a:tc>
                  <a:txBody>
                    <a:bodyPr/>
                    <a:lstStyle/>
                    <a:p>
                      <a:pPr algn="ctr">
                        <a:defRPr sz="1100" b="1">
                          <a:solidFill>
                            <a:srgbClr val="222222"/>
                          </a:solidFill>
                          <a:latin typeface="Arial"/>
                        </a:defRPr>
                      </a:pPr>
                      <a:r>
                        <a:t>0.009</a:t>
                      </a:r>
                    </a:p>
                  </a:txBody>
                  <a:tcPr>
                    <a:solidFill>
                      <a:srgbClr val="E6F2FF"/>
                    </a:solidFill>
                  </a:tcPr>
                </a:tc>
                <a:extLst>
                  <a:ext uri="{0D108BD9-81ED-4DB2-BD59-A6C34878D82A}">
                    <a16:rowId xmlns:a16="http://schemas.microsoft.com/office/drawing/2014/main" val="10001"/>
                  </a:ext>
                </a:extLst>
              </a:tr>
              <a:tr h="640080">
                <a:tc>
                  <a:txBody>
                    <a:bodyPr/>
                    <a:lstStyle/>
                    <a:p>
                      <a:pPr algn="l">
                        <a:defRPr sz="1100">
                          <a:solidFill>
                            <a:srgbClr val="222222"/>
                          </a:solidFill>
                          <a:latin typeface="Arial"/>
                        </a:defRPr>
                      </a:pPr>
                      <a:r>
                        <a:t>Logistic Regression</a:t>
                      </a:r>
                    </a:p>
                  </a:txBody>
                  <a:tcPr>
                    <a:solidFill>
                      <a:srgbClr val="FAFAF9"/>
                    </a:solidFill>
                  </a:tcPr>
                </a:tc>
                <a:tc>
                  <a:txBody>
                    <a:bodyPr/>
                    <a:lstStyle/>
                    <a:p>
                      <a:pPr algn="ctr">
                        <a:defRPr sz="1100">
                          <a:solidFill>
                            <a:srgbClr val="222222"/>
                          </a:solidFill>
                          <a:latin typeface="Arial"/>
                        </a:defRPr>
                      </a:pPr>
                      <a:r>
                        <a:t>0.845</a:t>
                      </a:r>
                    </a:p>
                  </a:txBody>
                  <a:tcPr>
                    <a:solidFill>
                      <a:srgbClr val="FAFAF9"/>
                    </a:solidFill>
                  </a:tcPr>
                </a:tc>
                <a:tc>
                  <a:txBody>
                    <a:bodyPr/>
                    <a:lstStyle/>
                    <a:p>
                      <a:pPr algn="ctr">
                        <a:defRPr sz="1100">
                          <a:solidFill>
                            <a:srgbClr val="222222"/>
                          </a:solidFill>
                          <a:latin typeface="Arial"/>
                        </a:defRPr>
                      </a:pPr>
                      <a:r>
                        <a:t>0.846</a:t>
                      </a:r>
                    </a:p>
                  </a:txBody>
                  <a:tcPr>
                    <a:solidFill>
                      <a:srgbClr val="FAFAF9"/>
                    </a:solidFill>
                  </a:tcPr>
                </a:tc>
                <a:tc>
                  <a:txBody>
                    <a:bodyPr/>
                    <a:lstStyle/>
                    <a:p>
                      <a:pPr algn="ctr">
                        <a:defRPr sz="1100">
                          <a:solidFill>
                            <a:srgbClr val="222222"/>
                          </a:solidFill>
                          <a:latin typeface="Arial"/>
                        </a:defRPr>
                      </a:pPr>
                      <a:r>
                        <a:t>0.009</a:t>
                      </a:r>
                    </a:p>
                  </a:txBody>
                  <a:tcPr>
                    <a:solidFill>
                      <a:srgbClr val="FAFAF9"/>
                    </a:solidFill>
                  </a:tcPr>
                </a:tc>
                <a:extLst>
                  <a:ext uri="{0D108BD9-81ED-4DB2-BD59-A6C34878D82A}">
                    <a16:rowId xmlns:a16="http://schemas.microsoft.com/office/drawing/2014/main" val="10002"/>
                  </a:ext>
                </a:extLst>
              </a:tr>
              <a:tr h="640080">
                <a:tc>
                  <a:txBody>
                    <a:bodyPr/>
                    <a:lstStyle/>
                    <a:p>
                      <a:pPr algn="l">
                        <a:defRPr sz="1100">
                          <a:solidFill>
                            <a:srgbClr val="222222"/>
                          </a:solidFill>
                          <a:latin typeface="Arial"/>
                        </a:defRPr>
                      </a:pPr>
                      <a:r>
                        <a:t>Random Forest</a:t>
                      </a:r>
                    </a:p>
                  </a:txBody>
                  <a:tcPr>
                    <a:solidFill>
                      <a:srgbClr val="F0F0F0"/>
                    </a:solidFill>
                  </a:tcPr>
                </a:tc>
                <a:tc>
                  <a:txBody>
                    <a:bodyPr/>
                    <a:lstStyle/>
                    <a:p>
                      <a:pPr algn="ctr">
                        <a:defRPr sz="1100">
                          <a:solidFill>
                            <a:srgbClr val="222222"/>
                          </a:solidFill>
                          <a:latin typeface="Arial"/>
                        </a:defRPr>
                      </a:pPr>
                      <a:r>
                        <a:t>0.824</a:t>
                      </a:r>
                    </a:p>
                  </a:txBody>
                  <a:tcPr>
                    <a:solidFill>
                      <a:srgbClr val="F0F0F0"/>
                    </a:solidFill>
                  </a:tcPr>
                </a:tc>
                <a:tc>
                  <a:txBody>
                    <a:bodyPr/>
                    <a:lstStyle/>
                    <a:p>
                      <a:pPr algn="ctr">
                        <a:defRPr sz="1100">
                          <a:solidFill>
                            <a:srgbClr val="222222"/>
                          </a:solidFill>
                          <a:latin typeface="Arial"/>
                        </a:defRPr>
                      </a:pPr>
                      <a:r>
                        <a:t>0.844</a:t>
                      </a:r>
                    </a:p>
                  </a:txBody>
                  <a:tcPr>
                    <a:solidFill>
                      <a:srgbClr val="F0F0F0"/>
                    </a:solidFill>
                  </a:tcPr>
                </a:tc>
                <a:tc>
                  <a:txBody>
                    <a:bodyPr/>
                    <a:lstStyle/>
                    <a:p>
                      <a:pPr algn="ctr">
                        <a:defRPr sz="1100">
                          <a:solidFill>
                            <a:srgbClr val="222222"/>
                          </a:solidFill>
                          <a:latin typeface="Arial"/>
                        </a:defRPr>
                      </a:pPr>
                      <a:r>
                        <a:t>0.006</a:t>
                      </a:r>
                    </a:p>
                  </a:txBody>
                  <a:tcPr>
                    <a:solidFill>
                      <a:srgbClr val="F0F0F0"/>
                    </a:solidFill>
                  </a:tcPr>
                </a:tc>
                <a:extLst>
                  <a:ext uri="{0D108BD9-81ED-4DB2-BD59-A6C34878D82A}">
                    <a16:rowId xmlns:a16="http://schemas.microsoft.com/office/drawing/2014/main" val="10003"/>
                  </a:ext>
                </a:extLst>
              </a:tr>
              <a:tr h="640080">
                <a:tc>
                  <a:txBody>
                    <a:bodyPr/>
                    <a:lstStyle/>
                    <a:p>
                      <a:pPr algn="l">
                        <a:defRPr sz="1100">
                          <a:solidFill>
                            <a:srgbClr val="222222"/>
                          </a:solidFill>
                          <a:latin typeface="Arial"/>
                        </a:defRPr>
                      </a:pPr>
                      <a:r>
                        <a:t>SVM</a:t>
                      </a:r>
                    </a:p>
                  </a:txBody>
                  <a:tcPr>
                    <a:solidFill>
                      <a:srgbClr val="FAFAF9"/>
                    </a:solidFill>
                  </a:tcPr>
                </a:tc>
                <a:tc>
                  <a:txBody>
                    <a:bodyPr/>
                    <a:lstStyle/>
                    <a:p>
                      <a:pPr algn="ctr">
                        <a:defRPr sz="1100">
                          <a:solidFill>
                            <a:srgbClr val="222222"/>
                          </a:solidFill>
                          <a:latin typeface="Arial"/>
                        </a:defRPr>
                      </a:pPr>
                      <a:r>
                        <a:t>0.800</a:t>
                      </a:r>
                    </a:p>
                  </a:txBody>
                  <a:tcPr>
                    <a:solidFill>
                      <a:srgbClr val="FAFAF9"/>
                    </a:solidFill>
                  </a:tcPr>
                </a:tc>
                <a:tc>
                  <a:txBody>
                    <a:bodyPr/>
                    <a:lstStyle/>
                    <a:p>
                      <a:pPr algn="ctr">
                        <a:defRPr sz="1100">
                          <a:solidFill>
                            <a:srgbClr val="222222"/>
                          </a:solidFill>
                          <a:latin typeface="Arial"/>
                        </a:defRPr>
                      </a:pPr>
                      <a:r>
                        <a:t>0.835</a:t>
                      </a:r>
                    </a:p>
                  </a:txBody>
                  <a:tcPr>
                    <a:solidFill>
                      <a:srgbClr val="FAFAF9"/>
                    </a:solidFill>
                  </a:tcPr>
                </a:tc>
                <a:tc>
                  <a:txBody>
                    <a:bodyPr/>
                    <a:lstStyle/>
                    <a:p>
                      <a:pPr algn="ctr">
                        <a:defRPr sz="1100">
                          <a:solidFill>
                            <a:srgbClr val="222222"/>
                          </a:solidFill>
                          <a:latin typeface="Arial"/>
                        </a:defRPr>
                      </a:pPr>
                      <a:r>
                        <a:t>0.004</a:t>
                      </a:r>
                    </a:p>
                  </a:txBody>
                  <a:tcPr>
                    <a:solidFill>
                      <a:srgbClr val="FAFAF9"/>
                    </a:solidFill>
                  </a:tcPr>
                </a:tc>
                <a:extLst>
                  <a:ext uri="{0D108BD9-81ED-4DB2-BD59-A6C34878D82A}">
                    <a16:rowId xmlns:a16="http://schemas.microsoft.com/office/drawing/2014/main" val="10004"/>
                  </a:ext>
                </a:extLst>
              </a:tr>
              <a:tr h="640080">
                <a:tc>
                  <a:txBody>
                    <a:bodyPr/>
                    <a:lstStyle/>
                    <a:p>
                      <a:pPr algn="l">
                        <a:defRPr sz="1100">
                          <a:solidFill>
                            <a:srgbClr val="222222"/>
                          </a:solidFill>
                          <a:latin typeface="Arial"/>
                        </a:defRPr>
                      </a:pPr>
                      <a:r>
                        <a:t>Decision Tree</a:t>
                      </a:r>
                    </a:p>
                  </a:txBody>
                  <a:tcPr>
                    <a:solidFill>
                      <a:srgbClr val="F0F0F0"/>
                    </a:solidFill>
                  </a:tcPr>
                </a:tc>
                <a:tc>
                  <a:txBody>
                    <a:bodyPr/>
                    <a:lstStyle/>
                    <a:p>
                      <a:pPr algn="ctr">
                        <a:defRPr sz="1100">
                          <a:solidFill>
                            <a:srgbClr val="222222"/>
                          </a:solidFill>
                          <a:latin typeface="Arial"/>
                        </a:defRPr>
                      </a:pPr>
                      <a:r>
                        <a:t>0.656</a:t>
                      </a:r>
                    </a:p>
                  </a:txBody>
                  <a:tcPr>
                    <a:solidFill>
                      <a:srgbClr val="F0F0F0"/>
                    </a:solidFill>
                  </a:tcPr>
                </a:tc>
                <a:tc>
                  <a:txBody>
                    <a:bodyPr/>
                    <a:lstStyle/>
                    <a:p>
                      <a:pPr algn="ctr">
                        <a:defRPr sz="1100">
                          <a:solidFill>
                            <a:srgbClr val="222222"/>
                          </a:solidFill>
                          <a:latin typeface="Arial"/>
                        </a:defRPr>
                      </a:pPr>
                      <a:r>
                        <a:t>0.830</a:t>
                      </a:r>
                    </a:p>
                  </a:txBody>
                  <a:tcPr>
                    <a:solidFill>
                      <a:srgbClr val="F0F0F0"/>
                    </a:solidFill>
                  </a:tcPr>
                </a:tc>
                <a:tc>
                  <a:txBody>
                    <a:bodyPr/>
                    <a:lstStyle/>
                    <a:p>
                      <a:pPr algn="ctr">
                        <a:defRPr sz="1100">
                          <a:solidFill>
                            <a:srgbClr val="222222"/>
                          </a:solidFill>
                          <a:latin typeface="Arial"/>
                        </a:defRPr>
                      </a:pPr>
                      <a:r>
                        <a:t>0.009</a:t>
                      </a:r>
                    </a:p>
                  </a:txBody>
                  <a:tcPr>
                    <a:solidFill>
                      <a:srgbClr val="F0F0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10" name="Rounded Rectangle 9"/>
          <p:cNvSpPr/>
          <p:nvPr/>
        </p:nvSpPr>
        <p:spPr>
          <a:xfrm>
            <a:off x="521208" y="1938528"/>
            <a:ext cx="5358384" cy="2340864"/>
          </a:xfrm>
          <a:prstGeom prst="roundRect">
            <a:avLst/>
          </a:prstGeom>
          <a:solidFill>
            <a:srgbClr val="FFFFFF"/>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Final Holdout Evaluation Confirms Strong Model Reliability</a:t>
            </a:r>
          </a:p>
        </p:txBody>
      </p:sp>
      <p:sp>
        <p:nvSpPr>
          <p:cNvPr id="4" name="Rectangle 3"/>
          <p:cNvSpPr/>
          <p:nvPr/>
        </p:nvSpPr>
        <p:spPr>
          <a:xfrm>
            <a:off x="685800" y="1280160"/>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4 of 10</a:t>
            </a:r>
          </a:p>
        </p:txBody>
      </p:sp>
      <p:sp>
        <p:nvSpPr>
          <p:cNvPr id="6" name="TextBox 5"/>
          <p:cNvSpPr txBox="1"/>
          <p:nvPr/>
        </p:nvSpPr>
        <p:spPr>
          <a:xfrm>
            <a:off x="685800" y="1645920"/>
            <a:ext cx="5029200" cy="365760"/>
          </a:xfrm>
          <a:prstGeom prst="rect">
            <a:avLst/>
          </a:prstGeom>
          <a:noFill/>
        </p:spPr>
        <p:txBody>
          <a:bodyPr wrap="square">
            <a:spAutoFit/>
          </a:bodyPr>
          <a:lstStyle/>
          <a:p>
            <a:pPr>
              <a:defRPr sz="1600" b="1">
                <a:solidFill>
                  <a:srgbClr val="0F4C81"/>
                </a:solidFill>
                <a:latin typeface="Georgia"/>
              </a:defRPr>
            </a:pPr>
            <a:r>
              <a:t>Holdout Confusion Matrix (n = 1,409)</a:t>
            </a:r>
          </a:p>
        </p:txBody>
      </p:sp>
      <p:graphicFrame>
        <p:nvGraphicFramePr>
          <p:cNvPr id="7" name="Table 6"/>
          <p:cNvGraphicFramePr>
            <a:graphicFrameLocks noGrp="1"/>
          </p:cNvGraphicFramePr>
          <p:nvPr/>
        </p:nvGraphicFramePr>
        <p:xfrm>
          <a:off x="685800" y="2103120"/>
          <a:ext cx="5029200" cy="20116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670560">
                <a:tc>
                  <a:txBody>
                    <a:bodyPr/>
                    <a:lstStyle/>
                    <a:p>
                      <a:pPr algn="ctr">
                        <a:defRPr sz="1100" b="1">
                          <a:solidFill>
                            <a:srgbClr val="FFFFFF"/>
                          </a:solidFill>
                          <a:latin typeface="Arial"/>
                        </a:defRPr>
                      </a:pPr>
                      <a:endParaRPr/>
                    </a:p>
                  </a:txBody>
                  <a:tcPr>
                    <a:solidFill>
                      <a:srgbClr val="0F4C81"/>
                    </a:solidFill>
                  </a:tcPr>
                </a:tc>
                <a:tc>
                  <a:txBody>
                    <a:bodyPr/>
                    <a:lstStyle/>
                    <a:p>
                      <a:pPr algn="ctr">
                        <a:defRPr sz="1100" b="1">
                          <a:solidFill>
                            <a:srgbClr val="FFFFFF"/>
                          </a:solidFill>
                          <a:latin typeface="Arial"/>
                        </a:defRPr>
                      </a:pPr>
                      <a:r>
                        <a:t>Predicted: No Churn</a:t>
                      </a:r>
                    </a:p>
                  </a:txBody>
                  <a:tcPr>
                    <a:solidFill>
                      <a:srgbClr val="0F4C81"/>
                    </a:solidFill>
                  </a:tcPr>
                </a:tc>
                <a:tc>
                  <a:txBody>
                    <a:bodyPr/>
                    <a:lstStyle/>
                    <a:p>
                      <a:pPr algn="ctr">
                        <a:defRPr sz="1100" b="1">
                          <a:solidFill>
                            <a:srgbClr val="FFFFFF"/>
                          </a:solidFill>
                          <a:latin typeface="Arial"/>
                        </a:defRPr>
                      </a:pPr>
                      <a:r>
                        <a:t>Predicted: Churn</a:t>
                      </a:r>
                    </a:p>
                  </a:txBody>
                  <a:tcPr>
                    <a:solidFill>
                      <a:srgbClr val="0F4C81"/>
                    </a:solidFill>
                  </a:tcPr>
                </a:tc>
                <a:extLst>
                  <a:ext uri="{0D108BD9-81ED-4DB2-BD59-A6C34878D82A}">
                    <a16:rowId xmlns:a16="http://schemas.microsoft.com/office/drawing/2014/main" val="10000"/>
                  </a:ext>
                </a:extLst>
              </a:tr>
              <a:tr h="670560">
                <a:tc>
                  <a:txBody>
                    <a:bodyPr/>
                    <a:lstStyle/>
                    <a:p>
                      <a:pPr algn="ctr">
                        <a:defRPr sz="1000">
                          <a:solidFill>
                            <a:srgbClr val="222222"/>
                          </a:solidFill>
                          <a:latin typeface="Arial"/>
                        </a:defRPr>
                      </a:pPr>
                      <a:r>
                        <a:t>Actual: No Churn</a:t>
                      </a:r>
                    </a:p>
                  </a:txBody>
                  <a:tcPr>
                    <a:solidFill>
                      <a:srgbClr val="F0F0F0"/>
                    </a:solidFill>
                  </a:tcPr>
                </a:tc>
                <a:tc>
                  <a:txBody>
                    <a:bodyPr/>
                    <a:lstStyle/>
                    <a:p>
                      <a:pPr algn="ctr">
                        <a:defRPr sz="1000">
                          <a:solidFill>
                            <a:srgbClr val="222222"/>
                          </a:solidFill>
                          <a:latin typeface="Arial"/>
                        </a:defRPr>
                      </a:pPr>
                      <a:r>
                        <a:t>942 (True Neg)</a:t>
                      </a:r>
                    </a:p>
                  </a:txBody>
                  <a:tcPr>
                    <a:solidFill>
                      <a:srgbClr val="FAFAF9"/>
                    </a:solidFill>
                  </a:tcPr>
                </a:tc>
                <a:tc>
                  <a:txBody>
                    <a:bodyPr/>
                    <a:lstStyle/>
                    <a:p>
                      <a:pPr algn="ctr">
                        <a:defRPr sz="1000">
                          <a:solidFill>
                            <a:srgbClr val="222222"/>
                          </a:solidFill>
                          <a:latin typeface="Arial"/>
                        </a:defRPr>
                      </a:pPr>
                      <a:r>
                        <a:t>93 (False Pos)</a:t>
                      </a:r>
                    </a:p>
                  </a:txBody>
                  <a:tcPr>
                    <a:solidFill>
                      <a:srgbClr val="FAFAF9"/>
                    </a:solidFill>
                  </a:tcPr>
                </a:tc>
                <a:extLst>
                  <a:ext uri="{0D108BD9-81ED-4DB2-BD59-A6C34878D82A}">
                    <a16:rowId xmlns:a16="http://schemas.microsoft.com/office/drawing/2014/main" val="10001"/>
                  </a:ext>
                </a:extLst>
              </a:tr>
              <a:tr h="670560">
                <a:tc>
                  <a:txBody>
                    <a:bodyPr/>
                    <a:lstStyle/>
                    <a:p>
                      <a:pPr algn="ctr">
                        <a:defRPr sz="1000">
                          <a:solidFill>
                            <a:srgbClr val="222222"/>
                          </a:solidFill>
                          <a:latin typeface="Arial"/>
                        </a:defRPr>
                      </a:pPr>
                      <a:r>
                        <a:t>Actual: Churn</a:t>
                      </a:r>
                    </a:p>
                  </a:txBody>
                  <a:tcPr>
                    <a:solidFill>
                      <a:srgbClr val="F0F0F0"/>
                    </a:solidFill>
                  </a:tcPr>
                </a:tc>
                <a:tc>
                  <a:txBody>
                    <a:bodyPr/>
                    <a:lstStyle/>
                    <a:p>
                      <a:pPr algn="ctr">
                        <a:defRPr sz="1000">
                          <a:solidFill>
                            <a:srgbClr val="222222"/>
                          </a:solidFill>
                          <a:latin typeface="Arial"/>
                        </a:defRPr>
                      </a:pPr>
                      <a:r>
                        <a:t>183 (False Neg)</a:t>
                      </a:r>
                    </a:p>
                  </a:txBody>
                  <a:tcPr>
                    <a:solidFill>
                      <a:srgbClr val="FAFAF9"/>
                    </a:solidFill>
                  </a:tcPr>
                </a:tc>
                <a:tc>
                  <a:txBody>
                    <a:bodyPr/>
                    <a:lstStyle/>
                    <a:p>
                      <a:pPr algn="ctr">
                        <a:defRPr sz="1000">
                          <a:solidFill>
                            <a:srgbClr val="222222"/>
                          </a:solidFill>
                          <a:latin typeface="Arial"/>
                        </a:defRPr>
                      </a:pPr>
                      <a:r>
                        <a:t>191 (True Pos)</a:t>
                      </a:r>
                    </a:p>
                  </a:txBody>
                  <a:tcPr>
                    <a:solidFill>
                      <a:srgbClr val="FAFAF9"/>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85800" y="4297680"/>
            <a:ext cx="5029200" cy="1645920"/>
          </a:xfrm>
          <a:prstGeom prst="rect">
            <a:avLst/>
          </a:prstGeom>
          <a:noFill/>
        </p:spPr>
        <p:txBody>
          <a:bodyPr wrap="square">
            <a:spAutoFit/>
          </a:bodyPr>
          <a:lstStyle/>
          <a:p>
            <a:pPr>
              <a:defRPr sz="1200">
                <a:solidFill>
                  <a:srgbClr val="222222"/>
                </a:solidFill>
                <a:latin typeface="Arial"/>
              </a:defRPr>
            </a:pPr>
            <a:r>
              <a:t>• Precision (67.3%): Avoids wasting budget. 2 out of 3 customers flagged as likely churners are true risk cases.</a:t>
            </a:r>
          </a:p>
          <a:p>
            <a:pPr>
              <a:spcBef>
                <a:spcPts val="800"/>
              </a:spcBef>
              <a:defRPr sz="1200">
                <a:solidFill>
                  <a:srgbClr val="222222"/>
                </a:solidFill>
                <a:latin typeface="Arial"/>
              </a:defRPr>
            </a:pPr>
            <a:r>
              <a:t>• Recall (51.1%): At a default 0.50 cutoff, the model captures half of all churners. This recall can be aggressively increased by lowering the probability threshold to 0.30 if cost-of-miss is high.</a:t>
            </a:r>
          </a:p>
        </p:txBody>
      </p:sp>
      <p:sp>
        <p:nvSpPr>
          <p:cNvPr id="9" name="TextBox 8"/>
          <p:cNvSpPr txBox="1"/>
          <p:nvPr/>
        </p:nvSpPr>
        <p:spPr>
          <a:xfrm>
            <a:off x="6217920" y="1645920"/>
            <a:ext cx="5303520" cy="4114800"/>
          </a:xfrm>
          <a:prstGeom prst="rect">
            <a:avLst/>
          </a:prstGeom>
          <a:noFill/>
        </p:spPr>
        <p:txBody>
          <a:bodyPr wrap="square">
            <a:spAutoFit/>
          </a:bodyPr>
          <a:lstStyle/>
          <a:p>
            <a:pPr>
              <a:defRPr sz="1600" b="1">
                <a:solidFill>
                  <a:srgbClr val="0F4C81"/>
                </a:solidFill>
                <a:latin typeface="Georgia"/>
              </a:defRPr>
            </a:pPr>
            <a:r>
              <a:t>Summary of Evaluation Metrics</a:t>
            </a:r>
          </a:p>
          <a:p>
            <a:pPr>
              <a:spcBef>
                <a:spcPts val="1200"/>
              </a:spcBef>
              <a:defRPr sz="1400" b="1">
                <a:solidFill>
                  <a:srgbClr val="0F4C81"/>
                </a:solidFill>
                <a:latin typeface="Arial"/>
              </a:defRPr>
            </a:pPr>
            <a:r>
              <a:t>• Test ROC-AUC: 0.845</a:t>
            </a:r>
          </a:p>
          <a:p>
            <a:pPr>
              <a:defRPr sz="1200">
                <a:solidFill>
                  <a:srgbClr val="222222"/>
                </a:solidFill>
                <a:latin typeface="Arial"/>
              </a:defRPr>
            </a:pPr>
            <a:r>
              <a:t>Indicates strong risk ranking capability and excellent class separation.</a:t>
            </a:r>
          </a:p>
          <a:p>
            <a:pPr>
              <a:spcBef>
                <a:spcPts val="1200"/>
              </a:spcBef>
              <a:defRPr sz="1400" b="1">
                <a:solidFill>
                  <a:srgbClr val="0F4C81"/>
                </a:solidFill>
                <a:latin typeface="Arial"/>
              </a:defRPr>
            </a:pPr>
            <a:r>
              <a:t>• Test Accuracy: 80.4%</a:t>
            </a:r>
          </a:p>
          <a:p>
            <a:pPr>
              <a:defRPr sz="1200">
                <a:solidFill>
                  <a:srgbClr val="222222"/>
                </a:solidFill>
                <a:latin typeface="Arial"/>
              </a:defRPr>
            </a:pPr>
            <a:r>
              <a:t>Overall correct classification, highly reliable given default class ratios.</a:t>
            </a:r>
          </a:p>
          <a:p>
            <a:pPr>
              <a:spcBef>
                <a:spcPts val="1200"/>
              </a:spcBef>
              <a:defRPr sz="1400" b="1">
                <a:solidFill>
                  <a:srgbClr val="0F4C81"/>
                </a:solidFill>
                <a:latin typeface="Arial"/>
              </a:defRPr>
            </a:pPr>
            <a:r>
              <a:t>• Test F1-Score: 0.581</a:t>
            </a:r>
          </a:p>
          <a:p>
            <a:pPr>
              <a:defRPr sz="1200">
                <a:solidFill>
                  <a:srgbClr val="222222"/>
                </a:solidFill>
                <a:latin typeface="Arial"/>
              </a:defRPr>
            </a:pPr>
            <a:r>
              <a:t>Robust balance of precision and recall on the minority Churn class.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8" name="Rounded Rectangle 7"/>
          <p:cNvSpPr/>
          <p:nvPr/>
        </p:nvSpPr>
        <p:spPr>
          <a:xfrm>
            <a:off x="6053328" y="1481328"/>
            <a:ext cx="5632704" cy="3986784"/>
          </a:xfrm>
          <a:prstGeom prst="roundRect">
            <a:avLst/>
          </a:prstGeom>
          <a:solidFill>
            <a:srgbClr val="FFFFFF"/>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Feature Importance: Contract Type and Service Setup Lead Churn Signals</a:t>
            </a:r>
          </a:p>
        </p:txBody>
      </p:sp>
      <p:sp>
        <p:nvSpPr>
          <p:cNvPr id="4" name="Rectangle 3"/>
          <p:cNvSpPr/>
          <p:nvPr/>
        </p:nvSpPr>
        <p:spPr>
          <a:xfrm>
            <a:off x="658424" y="1483583"/>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5 of 10</a:t>
            </a:r>
          </a:p>
        </p:txBody>
      </p:sp>
      <p:sp>
        <p:nvSpPr>
          <p:cNvPr id="6" name="TextBox 5"/>
          <p:cNvSpPr txBox="1"/>
          <p:nvPr/>
        </p:nvSpPr>
        <p:spPr>
          <a:xfrm>
            <a:off x="685800" y="1645920"/>
            <a:ext cx="5029200" cy="4114800"/>
          </a:xfrm>
          <a:prstGeom prst="rect">
            <a:avLst/>
          </a:prstGeom>
          <a:noFill/>
        </p:spPr>
        <p:txBody>
          <a:bodyPr wrap="square">
            <a:spAutoFit/>
          </a:bodyPr>
          <a:lstStyle/>
          <a:p>
            <a:pPr>
              <a:defRPr sz="2000" b="1">
                <a:solidFill>
                  <a:srgbClr val="0F4C81"/>
                </a:solidFill>
                <a:latin typeface="Georgia"/>
              </a:defRPr>
            </a:pPr>
            <a:r>
              <a:t>Predictive Signal Ranking</a:t>
            </a:r>
          </a:p>
          <a:p>
            <a:pPr>
              <a:spcBef>
                <a:spcPts val="1000"/>
              </a:spcBef>
              <a:defRPr sz="1400">
                <a:solidFill>
                  <a:srgbClr val="222222"/>
                </a:solidFill>
                <a:latin typeface="Arial"/>
              </a:defRPr>
            </a:pPr>
            <a:r>
              <a:t>The dominant predictor is Month-to-Month contracts. Having no contractual lock-in makes it effortless for customers to churn. Month-to-month contracts are roughly 2.9 times more influential than tenure.</a:t>
            </a:r>
          </a:p>
          <a:p>
            <a:pPr>
              <a:spcBef>
                <a:spcPts val="1000"/>
              </a:spcBef>
              <a:defRPr sz="1400">
                <a:solidFill>
                  <a:srgbClr val="222222"/>
                </a:solidFill>
                <a:latin typeface="Arial"/>
              </a:defRPr>
            </a:pPr>
            <a:r>
              <a:t>Fiber optic internet is also associated with high churn, suggesting service experience or pricing issues. A lack of online security and tech support add-ons also carries notable weight.</a:t>
            </a:r>
          </a:p>
        </p:txBody>
      </p:sp>
      <p:graphicFrame>
        <p:nvGraphicFramePr>
          <p:cNvPr id="7" name="Table 6"/>
          <p:cNvGraphicFramePr>
            <a:graphicFrameLocks noGrp="1"/>
          </p:cNvGraphicFramePr>
          <p:nvPr/>
        </p:nvGraphicFramePr>
        <p:xfrm>
          <a:off x="6217920" y="1645920"/>
          <a:ext cx="5303520" cy="365760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609600">
                <a:tc>
                  <a:txBody>
                    <a:bodyPr/>
                    <a:lstStyle/>
                    <a:p>
                      <a:pPr algn="l">
                        <a:defRPr sz="1200" b="1">
                          <a:solidFill>
                            <a:srgbClr val="FFFFFF"/>
                          </a:solidFill>
                          <a:latin typeface="Arial"/>
                        </a:defRPr>
                      </a:pPr>
                      <a:r>
                        <a:t>Predictor Feature</a:t>
                      </a:r>
                    </a:p>
                  </a:txBody>
                  <a:tcPr>
                    <a:solidFill>
                      <a:srgbClr val="0F4C81"/>
                    </a:solidFill>
                  </a:tcPr>
                </a:tc>
                <a:tc>
                  <a:txBody>
                    <a:bodyPr/>
                    <a:lstStyle/>
                    <a:p>
                      <a:pPr algn="ctr">
                        <a:defRPr sz="1200" b="1">
                          <a:solidFill>
                            <a:srgbClr val="FFFFFF"/>
                          </a:solidFill>
                          <a:latin typeface="Arial"/>
                        </a:defRPr>
                      </a:pPr>
                      <a:r>
                        <a:t>Model Importance</a:t>
                      </a:r>
                    </a:p>
                  </a:txBody>
                  <a:tcPr>
                    <a:solidFill>
                      <a:srgbClr val="0F4C81"/>
                    </a:solidFill>
                  </a:tcPr>
                </a:tc>
                <a:extLst>
                  <a:ext uri="{0D108BD9-81ED-4DB2-BD59-A6C34878D82A}">
                    <a16:rowId xmlns:a16="http://schemas.microsoft.com/office/drawing/2014/main" val="10000"/>
                  </a:ext>
                </a:extLst>
              </a:tr>
              <a:tr h="609600">
                <a:tc>
                  <a:txBody>
                    <a:bodyPr/>
                    <a:lstStyle/>
                    <a:p>
                      <a:pPr algn="l">
                        <a:defRPr sz="1100">
                          <a:solidFill>
                            <a:srgbClr val="222222"/>
                          </a:solidFill>
                          <a:latin typeface="Arial"/>
                        </a:defRPr>
                      </a:pPr>
                      <a:r>
                        <a:t>Contract: Month-to-month</a:t>
                      </a:r>
                    </a:p>
                  </a:txBody>
                  <a:tcPr>
                    <a:solidFill>
                      <a:srgbClr val="F0F0F0"/>
                    </a:solidFill>
                  </a:tcPr>
                </a:tc>
                <a:tc>
                  <a:txBody>
                    <a:bodyPr/>
                    <a:lstStyle/>
                    <a:p>
                      <a:pPr algn="ctr">
                        <a:defRPr sz="1100" b="1">
                          <a:solidFill>
                            <a:srgbClr val="222222"/>
                          </a:solidFill>
                          <a:latin typeface="Arial"/>
                        </a:defRPr>
                      </a:pPr>
                      <a:r>
                        <a:t>0.409</a:t>
                      </a:r>
                    </a:p>
                  </a:txBody>
                  <a:tcPr>
                    <a:solidFill>
                      <a:srgbClr val="F0F0F0"/>
                    </a:solidFill>
                  </a:tcPr>
                </a:tc>
                <a:extLst>
                  <a:ext uri="{0D108BD9-81ED-4DB2-BD59-A6C34878D82A}">
                    <a16:rowId xmlns:a16="http://schemas.microsoft.com/office/drawing/2014/main" val="10001"/>
                  </a:ext>
                </a:extLst>
              </a:tr>
              <a:tr h="609600">
                <a:tc>
                  <a:txBody>
                    <a:bodyPr/>
                    <a:lstStyle/>
                    <a:p>
                      <a:pPr algn="l">
                        <a:defRPr sz="1100">
                          <a:solidFill>
                            <a:srgbClr val="222222"/>
                          </a:solidFill>
                          <a:latin typeface="Arial"/>
                        </a:defRPr>
                      </a:pPr>
                      <a:r>
                        <a:t>Tenure (months)</a:t>
                      </a:r>
                    </a:p>
                  </a:txBody>
                  <a:tcPr>
                    <a:solidFill>
                      <a:srgbClr val="FAFAF9"/>
                    </a:solidFill>
                  </a:tcPr>
                </a:tc>
                <a:tc>
                  <a:txBody>
                    <a:bodyPr/>
                    <a:lstStyle/>
                    <a:p>
                      <a:pPr algn="ctr">
                        <a:defRPr sz="1100" b="1">
                          <a:solidFill>
                            <a:srgbClr val="222222"/>
                          </a:solidFill>
                          <a:latin typeface="Arial"/>
                        </a:defRPr>
                      </a:pPr>
                      <a:r>
                        <a:t>0.138</a:t>
                      </a:r>
                    </a:p>
                  </a:txBody>
                  <a:tcPr>
                    <a:solidFill>
                      <a:srgbClr val="FAFAF9"/>
                    </a:solidFill>
                  </a:tcPr>
                </a:tc>
                <a:extLst>
                  <a:ext uri="{0D108BD9-81ED-4DB2-BD59-A6C34878D82A}">
                    <a16:rowId xmlns:a16="http://schemas.microsoft.com/office/drawing/2014/main" val="10002"/>
                  </a:ext>
                </a:extLst>
              </a:tr>
              <a:tr h="609600">
                <a:tc>
                  <a:txBody>
                    <a:bodyPr/>
                    <a:lstStyle/>
                    <a:p>
                      <a:pPr algn="l">
                        <a:defRPr sz="1100">
                          <a:solidFill>
                            <a:srgbClr val="222222"/>
                          </a:solidFill>
                          <a:latin typeface="Arial"/>
                        </a:defRPr>
                      </a:pPr>
                      <a:r>
                        <a:t>Internet Service: Fiber optic</a:t>
                      </a:r>
                    </a:p>
                  </a:txBody>
                  <a:tcPr>
                    <a:solidFill>
                      <a:srgbClr val="F0F0F0"/>
                    </a:solidFill>
                  </a:tcPr>
                </a:tc>
                <a:tc>
                  <a:txBody>
                    <a:bodyPr/>
                    <a:lstStyle/>
                    <a:p>
                      <a:pPr algn="ctr">
                        <a:defRPr sz="1100" b="1">
                          <a:solidFill>
                            <a:srgbClr val="222222"/>
                          </a:solidFill>
                          <a:latin typeface="Arial"/>
                        </a:defRPr>
                      </a:pPr>
                      <a:r>
                        <a:t>0.094</a:t>
                      </a:r>
                    </a:p>
                  </a:txBody>
                  <a:tcPr>
                    <a:solidFill>
                      <a:srgbClr val="F0F0F0"/>
                    </a:solidFill>
                  </a:tcPr>
                </a:tc>
                <a:extLst>
                  <a:ext uri="{0D108BD9-81ED-4DB2-BD59-A6C34878D82A}">
                    <a16:rowId xmlns:a16="http://schemas.microsoft.com/office/drawing/2014/main" val="10003"/>
                  </a:ext>
                </a:extLst>
              </a:tr>
              <a:tr h="609600">
                <a:tc>
                  <a:txBody>
                    <a:bodyPr/>
                    <a:lstStyle/>
                    <a:p>
                      <a:pPr algn="l">
                        <a:defRPr sz="1100">
                          <a:solidFill>
                            <a:srgbClr val="222222"/>
                          </a:solidFill>
                          <a:latin typeface="Arial"/>
                        </a:defRPr>
                      </a:pPr>
                      <a:r>
                        <a:t>Online Security: No</a:t>
                      </a:r>
                    </a:p>
                  </a:txBody>
                  <a:tcPr>
                    <a:solidFill>
                      <a:srgbClr val="FAFAF9"/>
                    </a:solidFill>
                  </a:tcPr>
                </a:tc>
                <a:tc>
                  <a:txBody>
                    <a:bodyPr/>
                    <a:lstStyle/>
                    <a:p>
                      <a:pPr algn="ctr">
                        <a:defRPr sz="1100" b="1">
                          <a:solidFill>
                            <a:srgbClr val="222222"/>
                          </a:solidFill>
                          <a:latin typeface="Arial"/>
                        </a:defRPr>
                      </a:pPr>
                      <a:r>
                        <a:t>0.075</a:t>
                      </a:r>
                    </a:p>
                  </a:txBody>
                  <a:tcPr>
                    <a:solidFill>
                      <a:srgbClr val="FAFAF9"/>
                    </a:solidFill>
                  </a:tcPr>
                </a:tc>
                <a:extLst>
                  <a:ext uri="{0D108BD9-81ED-4DB2-BD59-A6C34878D82A}">
                    <a16:rowId xmlns:a16="http://schemas.microsoft.com/office/drawing/2014/main" val="10004"/>
                  </a:ext>
                </a:extLst>
              </a:tr>
              <a:tr h="609600">
                <a:tc>
                  <a:txBody>
                    <a:bodyPr/>
                    <a:lstStyle/>
                    <a:p>
                      <a:pPr algn="l">
                        <a:defRPr sz="1100">
                          <a:solidFill>
                            <a:srgbClr val="222222"/>
                          </a:solidFill>
                          <a:latin typeface="Arial"/>
                        </a:defRPr>
                      </a:pPr>
                      <a:r>
                        <a:t>Total Charges</a:t>
                      </a:r>
                    </a:p>
                  </a:txBody>
                  <a:tcPr>
                    <a:solidFill>
                      <a:srgbClr val="F0F0F0"/>
                    </a:solidFill>
                  </a:tcPr>
                </a:tc>
                <a:tc>
                  <a:txBody>
                    <a:bodyPr/>
                    <a:lstStyle/>
                    <a:p>
                      <a:pPr algn="ctr">
                        <a:defRPr sz="1100" b="1">
                          <a:solidFill>
                            <a:srgbClr val="222222"/>
                          </a:solidFill>
                          <a:latin typeface="Arial"/>
                        </a:defRPr>
                      </a:pPr>
                      <a:r>
                        <a:t>0.065</a:t>
                      </a:r>
                    </a:p>
                  </a:txBody>
                  <a:tcPr>
                    <a:solidFill>
                      <a:srgbClr val="F0F0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Risk Segmentation: Aligning Budgets to Churn Probabilities</a:t>
            </a:r>
          </a:p>
        </p:txBody>
      </p:sp>
      <p:sp>
        <p:nvSpPr>
          <p:cNvPr id="4" name="Rectangle 3"/>
          <p:cNvSpPr/>
          <p:nvPr/>
        </p:nvSpPr>
        <p:spPr>
          <a:xfrm>
            <a:off x="685800" y="1280160"/>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6 of 10</a:t>
            </a:r>
          </a:p>
        </p:txBody>
      </p:sp>
      <p:sp>
        <p:nvSpPr>
          <p:cNvPr id="6" name="TextBox 5"/>
          <p:cNvSpPr txBox="1"/>
          <p:nvPr/>
        </p:nvSpPr>
        <p:spPr>
          <a:xfrm>
            <a:off x="685800" y="1645920"/>
            <a:ext cx="4114800" cy="4114800"/>
          </a:xfrm>
          <a:prstGeom prst="rect">
            <a:avLst/>
          </a:prstGeom>
          <a:noFill/>
        </p:spPr>
        <p:txBody>
          <a:bodyPr wrap="square">
            <a:spAutoFit/>
          </a:bodyPr>
          <a:lstStyle/>
          <a:p>
            <a:pPr>
              <a:defRPr sz="2000" b="1">
                <a:solidFill>
                  <a:srgbClr val="0F4C81"/>
                </a:solidFill>
                <a:latin typeface="Georgia"/>
              </a:defRPr>
            </a:pPr>
            <a:r>
              <a:t>Actionable Risk Tiers</a:t>
            </a:r>
          </a:p>
          <a:p>
            <a:pPr>
              <a:spcBef>
                <a:spcPts val="1000"/>
              </a:spcBef>
              <a:defRPr sz="1400">
                <a:solidFill>
                  <a:srgbClr val="222222"/>
                </a:solidFill>
                <a:latin typeface="Arial"/>
              </a:defRPr>
            </a:pPr>
            <a:r>
              <a:t>Instead of treating all predicted churners identically, customers are segmented into three actionable tiers based directly on their predicted churn probability.</a:t>
            </a:r>
          </a:p>
          <a:p>
            <a:pPr>
              <a:spcBef>
                <a:spcPts val="1000"/>
              </a:spcBef>
              <a:defRPr sz="1400">
                <a:solidFill>
                  <a:srgbClr val="222222"/>
                </a:solidFill>
                <a:latin typeface="Arial"/>
              </a:defRPr>
            </a:pPr>
            <a:r>
              <a:t>This allows the business to reserve expensive human outreach and incentives for the highest risk cases, while employing automated, low-cost monitoring for medium-risk customers.</a:t>
            </a:r>
          </a:p>
        </p:txBody>
      </p:sp>
      <p:sp>
        <p:nvSpPr>
          <p:cNvPr id="7" name="Rounded Rectangle 6"/>
          <p:cNvSpPr/>
          <p:nvPr/>
        </p:nvSpPr>
        <p:spPr>
          <a:xfrm>
            <a:off x="5669279" y="4206240"/>
            <a:ext cx="5486400" cy="1097280"/>
          </a:xfrm>
          <a:prstGeom prst="roundRect">
            <a:avLst/>
          </a:prstGeom>
          <a:solidFill>
            <a:srgbClr val="5CB85C"/>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defRPr sz="1200" b="1">
                <a:solidFill>
                  <a:srgbClr val="FFFFFF"/>
                </a:solidFill>
                <a:latin typeface="Arial"/>
              </a:defRPr>
            </a:pPr>
            <a:r>
              <a:t>LOW RISK TIER (Probability &lt; 0.40)  |  Standard CX Programs Only</a:t>
            </a:r>
          </a:p>
          <a:p>
            <a:pPr algn="ctr">
              <a:defRPr sz="1000">
                <a:solidFill>
                  <a:srgbClr val="FFFFFF"/>
                </a:solidFill>
                <a:latin typeface="Arial"/>
              </a:defRPr>
            </a:pPr>
            <a:r>
              <a:t>Represents stable accounts. Keep in standard billing cycles and routine monitoring.</a:t>
            </a:r>
          </a:p>
        </p:txBody>
      </p:sp>
      <p:sp>
        <p:nvSpPr>
          <p:cNvPr id="8" name="Rounded Rectangle 7"/>
          <p:cNvSpPr/>
          <p:nvPr/>
        </p:nvSpPr>
        <p:spPr>
          <a:xfrm>
            <a:off x="6217919" y="2926080"/>
            <a:ext cx="4389120" cy="1097280"/>
          </a:xfrm>
          <a:prstGeom prst="roundRect">
            <a:avLst/>
          </a:prstGeom>
          <a:solidFill>
            <a:srgbClr val="F0AD4E"/>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defRPr sz="1200" b="1">
                <a:solidFill>
                  <a:srgbClr val="FFFFFF"/>
                </a:solidFill>
                <a:latin typeface="Arial"/>
              </a:defRPr>
            </a:pPr>
            <a:r>
              <a:t>MEDIUM RISK TIER (0.40 – 0.69)  |  Targeted Monitoring</a:t>
            </a:r>
          </a:p>
          <a:p>
            <a:pPr algn="ctr">
              <a:defRPr sz="1000">
                <a:solidFill>
                  <a:srgbClr val="FFFFFF"/>
                </a:solidFill>
                <a:latin typeface="Arial"/>
              </a:defRPr>
            </a:pPr>
            <a:r>
              <a:t>Deploy low-cost automated emails, product tutorials, and digital support nudges.</a:t>
            </a:r>
          </a:p>
        </p:txBody>
      </p:sp>
      <p:sp>
        <p:nvSpPr>
          <p:cNvPr id="9" name="Rounded Rectangle 8"/>
          <p:cNvSpPr/>
          <p:nvPr/>
        </p:nvSpPr>
        <p:spPr>
          <a:xfrm>
            <a:off x="6766559" y="1645920"/>
            <a:ext cx="3291840" cy="1097280"/>
          </a:xfrm>
          <a:prstGeom prst="roundRect">
            <a:avLst/>
          </a:prstGeom>
          <a:solidFill>
            <a:srgbClr val="D9534F"/>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defRPr sz="1200" b="1">
                <a:solidFill>
                  <a:srgbClr val="FFFFFF"/>
                </a:solidFill>
                <a:latin typeface="Arial"/>
              </a:defRPr>
            </a:pPr>
            <a:r>
              <a:t>HIGH RISK TIER (≥ 0.70)  |  Immediate Outreach</a:t>
            </a:r>
          </a:p>
          <a:p>
            <a:pPr algn="ctr">
              <a:defRPr sz="1000">
                <a:solidFill>
                  <a:srgbClr val="FFFFFF"/>
                </a:solidFill>
                <a:latin typeface="Arial"/>
              </a:defRPr>
            </a:pPr>
            <a:r>
              <a:t>Flag for direct customer service calls and personalized retention offers.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Opposing Pressures on Customer Loyalty: Drivers of Retention &amp; Churn</a:t>
            </a:r>
          </a:p>
        </p:txBody>
      </p:sp>
      <p:sp>
        <p:nvSpPr>
          <p:cNvPr id="4" name="Rectangle 3"/>
          <p:cNvSpPr/>
          <p:nvPr/>
        </p:nvSpPr>
        <p:spPr>
          <a:xfrm>
            <a:off x="685800" y="1434465"/>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7 of 10</a:t>
            </a:r>
          </a:p>
        </p:txBody>
      </p:sp>
      <p:sp>
        <p:nvSpPr>
          <p:cNvPr id="6" name="Rounded Rectangle 5"/>
          <p:cNvSpPr/>
          <p:nvPr/>
        </p:nvSpPr>
        <p:spPr>
          <a:xfrm>
            <a:off x="685800" y="1645920"/>
            <a:ext cx="5120640" cy="4389120"/>
          </a:xfrm>
          <a:prstGeom prst="roundRect">
            <a:avLst/>
          </a:prstGeom>
          <a:solidFill>
            <a:srgbClr val="FDEDEC"/>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2000" b="1">
                <a:solidFill>
                  <a:srgbClr val="D9534F"/>
                </a:solidFill>
                <a:latin typeface="Georgia"/>
              </a:defRPr>
            </a:pPr>
            <a:r>
              <a:t>Churn Risk Factors (Push Pressures)</a:t>
            </a:r>
          </a:p>
          <a:p>
            <a:pPr>
              <a:spcBef>
                <a:spcPts val="1200"/>
              </a:spcBef>
              <a:defRPr sz="1400" b="1">
                <a:solidFill>
                  <a:srgbClr val="D9534F"/>
                </a:solidFill>
                <a:latin typeface="Arial"/>
              </a:defRPr>
            </a:pPr>
            <a:r>
              <a:t>• Month-to-Month Contracts</a:t>
            </a:r>
          </a:p>
          <a:p>
            <a:pPr>
              <a:defRPr sz="1100">
                <a:solidFill>
                  <a:srgbClr val="222222"/>
                </a:solidFill>
                <a:latin typeface="Arial"/>
              </a:defRPr>
            </a:pPr>
            <a:r>
              <a:t>The absolute strongest predictor. Having no contractual lock-in makes it extremely easy for a customer to depart with no friction or exit penalties.</a:t>
            </a:r>
          </a:p>
          <a:p>
            <a:pPr>
              <a:spcBef>
                <a:spcPts val="1200"/>
              </a:spcBef>
              <a:defRPr sz="1400" b="1">
                <a:solidFill>
                  <a:srgbClr val="D9534F"/>
                </a:solidFill>
                <a:latin typeface="Arial"/>
              </a:defRPr>
            </a:pPr>
            <a:r>
              <a:t>• Fiber Optic Internet Service</a:t>
            </a:r>
          </a:p>
          <a:p>
            <a:pPr>
              <a:defRPr sz="1100">
                <a:solidFill>
                  <a:srgbClr val="222222"/>
                </a:solidFill>
                <a:latin typeface="Arial"/>
              </a:defRPr>
            </a:pPr>
            <a:r>
              <a:t>Associated with a highly significant 3.49× increase in churn odds. This signals major potential service-quality, technical, or pricing issues.</a:t>
            </a:r>
          </a:p>
          <a:p>
            <a:pPr>
              <a:spcBef>
                <a:spcPts val="1200"/>
              </a:spcBef>
              <a:defRPr sz="1400" b="1">
                <a:solidFill>
                  <a:srgbClr val="D9534F"/>
                </a:solidFill>
                <a:latin typeface="Arial"/>
              </a:defRPr>
            </a:pPr>
            <a:r>
              <a:t>• Lack of Support Add-Ons</a:t>
            </a:r>
          </a:p>
          <a:p>
            <a:pPr>
              <a:defRPr sz="1100">
                <a:solidFill>
                  <a:srgbClr val="222222"/>
                </a:solidFill>
                <a:latin typeface="Arial"/>
              </a:defRPr>
            </a:pPr>
            <a:r>
              <a:t>Customers who lack online Security or Tech Support are statistically much more vulnerable to service friction, leading to higher churn rates.</a:t>
            </a:r>
          </a:p>
        </p:txBody>
      </p:sp>
      <p:sp>
        <p:nvSpPr>
          <p:cNvPr id="7" name="Rounded Rectangle 6"/>
          <p:cNvSpPr/>
          <p:nvPr/>
        </p:nvSpPr>
        <p:spPr>
          <a:xfrm>
            <a:off x="6385255" y="1645920"/>
            <a:ext cx="5120640" cy="4389120"/>
          </a:xfrm>
          <a:prstGeom prst="roundRect">
            <a:avLst/>
          </a:prstGeom>
          <a:solidFill>
            <a:srgbClr val="EBF5FB"/>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2000" b="1">
                <a:solidFill>
                  <a:srgbClr val="0F4C81"/>
                </a:solidFill>
                <a:latin typeface="Georgia"/>
              </a:defRPr>
            </a:pPr>
            <a:r>
              <a:t>Loyalty Anchors (Pull Pressures)</a:t>
            </a:r>
          </a:p>
          <a:p>
            <a:pPr>
              <a:spcBef>
                <a:spcPts val="1200"/>
              </a:spcBef>
              <a:defRPr sz="1400" b="1">
                <a:solidFill>
                  <a:srgbClr val="0F4C81"/>
                </a:solidFill>
                <a:latin typeface="Arial"/>
              </a:defRPr>
            </a:pPr>
            <a:r>
              <a:t>• Long-Term Commitments</a:t>
            </a:r>
          </a:p>
          <a:p>
            <a:pPr>
              <a:defRPr sz="1100">
                <a:solidFill>
                  <a:srgbClr val="222222"/>
                </a:solidFill>
                <a:latin typeface="Arial"/>
              </a:defRPr>
            </a:pPr>
            <a:r>
              <a:t>Two-year contracts drastically lock in loyalty, cutting churn odds to 0.43× compared to month-to-month contracts.</a:t>
            </a:r>
          </a:p>
          <a:p>
            <a:pPr>
              <a:spcBef>
                <a:spcPts val="1200"/>
              </a:spcBef>
              <a:defRPr sz="1400" b="1">
                <a:solidFill>
                  <a:srgbClr val="0F4C81"/>
                </a:solidFill>
                <a:latin typeface="Arial"/>
              </a:defRPr>
            </a:pPr>
            <a:r>
              <a:t>• Customer Tenure</a:t>
            </a:r>
          </a:p>
          <a:p>
            <a:pPr>
              <a:defRPr sz="1100">
                <a:solidFill>
                  <a:srgbClr val="222222"/>
                </a:solidFill>
                <a:latin typeface="Arial"/>
              </a:defRPr>
            </a:pPr>
            <a:r>
              <a:t>Longer tenure acts as a powerful anchor. Relationships built over time have higher switching costs and higher stability.</a:t>
            </a:r>
          </a:p>
          <a:p>
            <a:pPr>
              <a:spcBef>
                <a:spcPts val="1200"/>
              </a:spcBef>
              <a:defRPr sz="1400" b="1">
                <a:solidFill>
                  <a:srgbClr val="0F4C81"/>
                </a:solidFill>
                <a:latin typeface="Arial"/>
              </a:defRPr>
            </a:pPr>
            <a:r>
              <a:t>• DSL Internet Service</a:t>
            </a:r>
          </a:p>
          <a:p>
            <a:pPr>
              <a:defRPr sz="1100">
                <a:solidFill>
                  <a:srgbClr val="222222"/>
                </a:solidFill>
                <a:latin typeface="Arial"/>
              </a:defRPr>
            </a:pPr>
            <a:r>
              <a:t>DSL users are highly stable and reliable, showing significantly lower odds of leaving compared to fiber customers (0.33× odds ratio).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274320"/>
          </a:xfrm>
          <a:prstGeom prst="rect">
            <a:avLst/>
          </a:prstGeom>
          <a:noFill/>
        </p:spPr>
        <p:txBody>
          <a:bodyPr wrap="square" lIns="0" tIns="0" rIns="0" bIns="0">
            <a:spAutoFit/>
          </a:bodyPr>
          <a:lstStyle/>
          <a:p>
            <a:pPr>
              <a:defRPr sz="1000" b="1">
                <a:solidFill>
                  <a:srgbClr val="E8985E"/>
                </a:solidFill>
                <a:latin typeface="Arial"/>
              </a:defRPr>
            </a:pPr>
            <a:r>
              <a:t>TELCO CUSTOMER CHURN ANALYSIS</a:t>
            </a:r>
          </a:p>
        </p:txBody>
      </p:sp>
      <p:sp>
        <p:nvSpPr>
          <p:cNvPr id="3" name="TextBox 2"/>
          <p:cNvSpPr txBox="1"/>
          <p:nvPr/>
        </p:nvSpPr>
        <p:spPr>
          <a:xfrm>
            <a:off x="685800" y="594360"/>
            <a:ext cx="10820095" cy="731520"/>
          </a:xfrm>
          <a:prstGeom prst="rect">
            <a:avLst/>
          </a:prstGeom>
          <a:noFill/>
        </p:spPr>
        <p:txBody>
          <a:bodyPr wrap="square" lIns="0" tIns="0" rIns="0" bIns="0">
            <a:spAutoFit/>
          </a:bodyPr>
          <a:lstStyle/>
          <a:p>
            <a:pPr>
              <a:defRPr sz="2600" b="1">
                <a:solidFill>
                  <a:srgbClr val="0F4C81"/>
                </a:solidFill>
                <a:latin typeface="Georgia"/>
              </a:defRPr>
            </a:pPr>
            <a:r>
              <a:t>Strategic Recommendations: Data-Driven Churn Mitigation</a:t>
            </a:r>
          </a:p>
        </p:txBody>
      </p:sp>
      <p:sp>
        <p:nvSpPr>
          <p:cNvPr id="4" name="Rectangle 3"/>
          <p:cNvSpPr/>
          <p:nvPr/>
        </p:nvSpPr>
        <p:spPr>
          <a:xfrm>
            <a:off x="685800" y="1280160"/>
            <a:ext cx="10820095" cy="1905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6309360"/>
            <a:ext cx="10820095" cy="274320"/>
          </a:xfrm>
          <a:prstGeom prst="rect">
            <a:avLst/>
          </a:prstGeom>
          <a:noFill/>
        </p:spPr>
        <p:txBody>
          <a:bodyPr wrap="square" lIns="0" tIns="0" rIns="0" bIns="0">
            <a:spAutoFit/>
          </a:bodyPr>
          <a:lstStyle/>
          <a:p>
            <a:pPr>
              <a:defRPr sz="900">
                <a:solidFill>
                  <a:srgbClr val="7E7E7E"/>
                </a:solidFill>
                <a:latin typeface="Arial"/>
              </a:defRPr>
            </a:pPr>
            <a:r>
              <a:rPr sz="900" b="0" i="0">
                <a:solidFill>
                  <a:srgbClr val="7E7E7E"/>
                </a:solidFill>
                <a:latin typeface="Arial"/>
              </a:rPr>
              <a:t>Executive Presentation  |  Grounded in Telco Customer Churn Business Reports  |  Slide 8 of 10</a:t>
            </a:r>
          </a:p>
        </p:txBody>
      </p:sp>
      <p:sp>
        <p:nvSpPr>
          <p:cNvPr id="6" name="Rounded Rectangle 5"/>
          <p:cNvSpPr/>
          <p:nvPr/>
        </p:nvSpPr>
        <p:spPr>
          <a:xfrm>
            <a:off x="685800" y="1645920"/>
            <a:ext cx="3291840" cy="4389120"/>
          </a:xfrm>
          <a:prstGeom prst="roundRect">
            <a:avLst/>
          </a:prstGeom>
          <a:solidFill>
            <a:srgbClr val="F0F0F0"/>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800" b="1">
                <a:solidFill>
                  <a:srgbClr val="D9534F"/>
                </a:solidFill>
                <a:latin typeface="Georgia"/>
              </a:defRPr>
            </a:pPr>
            <a:r>
              <a:t>1. Prioritize High Risk</a:t>
            </a:r>
          </a:p>
          <a:p>
            <a:pPr>
              <a:spcBef>
                <a:spcPts val="1400"/>
              </a:spcBef>
              <a:defRPr sz="1200">
                <a:solidFill>
                  <a:srgbClr val="222222"/>
                </a:solidFill>
                <a:latin typeface="Arial"/>
              </a:defRPr>
            </a:pPr>
            <a:r>
              <a:t>Execute proactive retention offers and personal outreach for the high-risk segment (churn probability ≥ 0.70). These customers represent the greatest revenue risk and offer the highest expected return on intervention.</a:t>
            </a:r>
          </a:p>
        </p:txBody>
      </p:sp>
      <p:sp>
        <p:nvSpPr>
          <p:cNvPr id="7" name="Rectangle 6"/>
          <p:cNvSpPr/>
          <p:nvPr/>
        </p:nvSpPr>
        <p:spPr>
          <a:xfrm>
            <a:off x="685800" y="1645920"/>
            <a:ext cx="3291840" cy="6350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34840" y="1645920"/>
            <a:ext cx="3291840" cy="4389120"/>
          </a:xfrm>
          <a:prstGeom prst="roundRect">
            <a:avLst/>
          </a:prstGeom>
          <a:solidFill>
            <a:srgbClr val="F0F0F0"/>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800" b="1">
                <a:solidFill>
                  <a:srgbClr val="0F4C81"/>
                </a:solidFill>
                <a:latin typeface="Georgia"/>
              </a:defRPr>
            </a:pPr>
            <a:r>
              <a:t>2. Drive Contract Conversion</a:t>
            </a:r>
          </a:p>
          <a:p>
            <a:pPr>
              <a:spcBef>
                <a:spcPts val="1400"/>
              </a:spcBef>
              <a:defRPr sz="1200">
                <a:solidFill>
                  <a:srgbClr val="222222"/>
                </a:solidFill>
                <a:latin typeface="Arial"/>
              </a:defRPr>
            </a:pPr>
            <a:r>
              <a:t>Identify early-lifecycle month-to-month customers with high tenure-propensity and offer targeted discounts or loyalty bonuses to transition them onto stable 1-year or 2-year contracts.</a:t>
            </a:r>
          </a:p>
        </p:txBody>
      </p:sp>
      <p:sp>
        <p:nvSpPr>
          <p:cNvPr id="9" name="Rectangle 8"/>
          <p:cNvSpPr/>
          <p:nvPr/>
        </p:nvSpPr>
        <p:spPr>
          <a:xfrm>
            <a:off x="4434840" y="1645920"/>
            <a:ext cx="3291840" cy="63500"/>
          </a:xfrm>
          <a:prstGeom prst="rect">
            <a:avLst/>
          </a:prstGeom>
          <a:solidFill>
            <a:srgbClr val="0F4C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83880" y="1645920"/>
            <a:ext cx="3291840" cy="4389120"/>
          </a:xfrm>
          <a:prstGeom prst="roundRect">
            <a:avLst/>
          </a:prstGeom>
          <a:solidFill>
            <a:srgbClr val="F0F0F0"/>
          </a:solidFill>
          <a:ln>
            <a:noFill/>
          </a:ln>
          <a:effectLst>
            <a:outerShdw blurRad="30000" dist="15000" dir="5400000">
              <a:srgbClr val="000000">
                <a:alpha val="15000"/>
              </a:srgbClr>
            </a:outerShdw>
          </a:effectLst>
          <a:sp3d prstMaterial="powder">
            <a:bevelT w="120000" h="35000"/>
          </a:sp3d>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800" b="1">
                <a:solidFill>
                  <a:srgbClr val="E8985E"/>
                </a:solidFill>
                <a:latin typeface="Georgia"/>
              </a:defRPr>
            </a:pPr>
            <a:r>
              <a:t>3. Audit Service Vulnerabilities</a:t>
            </a:r>
          </a:p>
          <a:p>
            <a:pPr>
              <a:spcBef>
                <a:spcPts val="1400"/>
              </a:spcBef>
              <a:defRPr sz="1200">
                <a:solidFill>
                  <a:srgbClr val="222222"/>
                </a:solidFill>
                <a:latin typeface="Arial"/>
              </a:defRPr>
            </a:pPr>
            <a:r>
              <a:t>Investigate service-related churn among fiber-optic subscribers and those missing security support. Product teams must review service delivery and packaging to address this value gap.</a:t>
            </a:r>
          </a:p>
        </p:txBody>
      </p:sp>
      <p:sp>
        <p:nvSpPr>
          <p:cNvPr id="11" name="Rectangle 10"/>
          <p:cNvSpPr/>
          <p:nvPr/>
        </p:nvSpPr>
        <p:spPr>
          <a:xfrm>
            <a:off x="8183880" y="1645920"/>
            <a:ext cx="3291840" cy="63500"/>
          </a:xfrm>
          <a:prstGeom prst="rect">
            <a:avLst/>
          </a:prstGeom>
          <a:solidFill>
            <a:srgbClr val="E89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3" name="TextBox 2"/>
          <p:cNvSpPr txBox="1"/>
          <p:nvPr/>
        </p:nvSpPr>
        <p:spPr>
          <a:xfrm>
            <a:off x="685800" y="365760"/>
            <a:ext cx="10817352" cy="274320"/>
          </a:xfrm>
          <a:prstGeom prst="rect">
            <a:avLst/>
          </a:prstGeom>
          <a:noFill/>
        </p:spPr>
        <p:txBody>
          <a:bodyPr wrap="square">
            <a:spAutoFit/>
          </a:bodyPr>
          <a:lstStyle/>
          <a:p>
            <a:pPr algn="l"/>
            <a:r>
              <a:rPr sz="1000" b="1" i="0">
                <a:solidFill>
                  <a:srgbClr val="E8985E"/>
                </a:solidFill>
                <a:latin typeface="Arial"/>
              </a:rPr>
              <a:t>TELCO CUSTOMER CHURN ANALYSIS</a:t>
            </a:r>
          </a:p>
        </p:txBody>
      </p:sp>
      <p:sp>
        <p:nvSpPr>
          <p:cNvPr id="4" name="TextBox 3"/>
          <p:cNvSpPr txBox="1"/>
          <p:nvPr/>
        </p:nvSpPr>
        <p:spPr>
          <a:xfrm>
            <a:off x="685800" y="594360"/>
            <a:ext cx="10817352" cy="731520"/>
          </a:xfrm>
          <a:prstGeom prst="rect">
            <a:avLst/>
          </a:prstGeom>
          <a:noFill/>
        </p:spPr>
        <p:txBody>
          <a:bodyPr wrap="square">
            <a:spAutoFit/>
          </a:bodyPr>
          <a:lstStyle/>
          <a:p>
            <a:pPr algn="l"/>
            <a:r>
              <a:rPr sz="2600" b="1" i="0">
                <a:solidFill>
                  <a:srgbClr val="0F4C81"/>
                </a:solidFill>
                <a:latin typeface="Georgia"/>
              </a:rPr>
              <a:t>Technical Appendix: Cost-Sensitive Decision Optimization</a:t>
            </a:r>
          </a:p>
        </p:txBody>
      </p:sp>
      <p:sp>
        <p:nvSpPr>
          <p:cNvPr id="5" name="Rectangle 4"/>
          <p:cNvSpPr/>
          <p:nvPr/>
        </p:nvSpPr>
        <p:spPr>
          <a:xfrm>
            <a:off x="685800" y="1280160"/>
            <a:ext cx="10817352" cy="18288"/>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6309360"/>
            <a:ext cx="10817352" cy="274320"/>
          </a:xfrm>
          <a:prstGeom prst="rect">
            <a:avLst/>
          </a:prstGeom>
          <a:noFill/>
        </p:spPr>
        <p:txBody>
          <a:bodyPr wrap="square">
            <a:spAutoFit/>
          </a:bodyPr>
          <a:lstStyle/>
          <a:p>
            <a:pPr algn="l"/>
            <a:r>
              <a:rPr sz="900" b="0" i="0">
                <a:solidFill>
                  <a:srgbClr val="7E7E7E"/>
                </a:solidFill>
                <a:latin typeface="Arial"/>
              </a:rPr>
              <a:t>Executive Presentation  |  Grounded in Telco Customer Churn Business Reports  |  Slide 9 of 10</a:t>
            </a:r>
          </a:p>
        </p:txBody>
      </p:sp>
      <p:sp>
        <p:nvSpPr>
          <p:cNvPr id="7" name="Rounded Rectangle 6"/>
          <p:cNvSpPr/>
          <p:nvPr/>
        </p:nvSpPr>
        <p:spPr>
          <a:xfrm>
            <a:off x="685800" y="1645920"/>
            <a:ext cx="5120640" cy="4389120"/>
          </a:xfrm>
          <a:prstGeom prst="roundRect">
            <a:avLst/>
          </a:prstGeom>
          <a:solidFill>
            <a:srgbClr val="FFFFFF"/>
          </a:solidFill>
          <a:ln>
            <a:noFill/>
          </a:ln>
          <a:effectLst>
            <a:outerShdw blurRad="300000" dist="30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4754880" cy="4023360"/>
          </a:xfrm>
          <a:prstGeom prst="rect">
            <a:avLst/>
          </a:prstGeom>
          <a:noFill/>
        </p:spPr>
        <p:txBody>
          <a:bodyPr wrap="square">
            <a:spAutoFit/>
          </a:bodyPr>
          <a:lstStyle/>
          <a:p>
            <a:pPr>
              <a:spcAft>
                <a:spcPts val="1400"/>
              </a:spcAft>
            </a:pPr>
            <a:r>
              <a:rPr sz="1800" b="1" i="0">
                <a:solidFill>
                  <a:srgbClr val="0F4C81"/>
                </a:solidFill>
                <a:latin typeface="Georgia"/>
              </a:rPr>
              <a:t>Churn Cost Asymmetry (The 10:1 Ratio)</a:t>
            </a:r>
          </a:p>
          <a:p>
            <a:pPr>
              <a:spcBef>
                <a:spcPts val="800"/>
              </a:spcBef>
            </a:pPr>
            <a:r>
              <a:rPr sz="1300" b="1" i="0">
                <a:solidFill>
                  <a:srgbClr val="1F4E79"/>
                </a:solidFill>
                <a:latin typeface="Arial"/>
              </a:rPr>
              <a:t>• False Negative (Missed Churner) Cost: $500</a:t>
            </a:r>
          </a:p>
          <a:p>
            <a:pPr>
              <a:spcAft>
                <a:spcPts val="600"/>
              </a:spcAft>
            </a:pPr>
            <a:r>
              <a:rPr sz="1150" b="0" i="0">
                <a:solidFill>
                  <a:srgbClr val="555555"/>
                </a:solidFill>
                <a:latin typeface="Arial"/>
              </a:rPr>
              <a:t>  Occurs when an at-risk customer is predicted as stable, leading to a complete loss of their remaining Customer Lifetime Value (CLV).</a:t>
            </a:r>
          </a:p>
          <a:p>
            <a:pPr>
              <a:spcBef>
                <a:spcPts val="800"/>
              </a:spcBef>
            </a:pPr>
            <a:r>
              <a:rPr sz="1300" b="1" i="0">
                <a:solidFill>
                  <a:srgbClr val="1F4E79"/>
                </a:solidFill>
                <a:latin typeface="Arial"/>
              </a:rPr>
              <a:t>• False Positive (False Alarm) Cost: $50</a:t>
            </a:r>
          </a:p>
          <a:p>
            <a:pPr>
              <a:spcAft>
                <a:spcPts val="600"/>
              </a:spcAft>
            </a:pPr>
            <a:r>
              <a:rPr sz="1150" b="0" i="0">
                <a:solidFill>
                  <a:srgbClr val="555555"/>
                </a:solidFill>
                <a:latin typeface="Arial"/>
              </a:rPr>
              <a:t>  Occurs when a loyal customer is offered a retention package, incurring only the low cost of a standard contract discount or support add-on.</a:t>
            </a:r>
          </a:p>
          <a:p>
            <a:pPr>
              <a:spcBef>
                <a:spcPts val="800"/>
              </a:spcBef>
            </a:pPr>
            <a:r>
              <a:rPr sz="1300" b="1" i="0">
                <a:solidFill>
                  <a:srgbClr val="1F4E79"/>
                </a:solidFill>
                <a:latin typeface="Arial"/>
              </a:rPr>
              <a:t>• Asymmetric Cost Ratio: 10:1</a:t>
            </a:r>
          </a:p>
          <a:p>
            <a:pPr>
              <a:spcAft>
                <a:spcPts val="600"/>
              </a:spcAft>
            </a:pPr>
            <a:r>
              <a:rPr sz="1150" b="0" i="0">
                <a:solidFill>
                  <a:srgbClr val="555555"/>
                </a:solidFill>
                <a:latin typeface="Arial"/>
              </a:rPr>
              <a:t>  Because missing a churner is 10 times more expensive than over-targeting a stable customer, the default 0.50 cutoff leads to major profit leaks.</a:t>
            </a:r>
          </a:p>
        </p:txBody>
      </p:sp>
      <p:sp>
        <p:nvSpPr>
          <p:cNvPr id="9" name="Rounded Rectangle 8"/>
          <p:cNvSpPr/>
          <p:nvPr/>
        </p:nvSpPr>
        <p:spPr>
          <a:xfrm>
            <a:off x="6382512" y="1645920"/>
            <a:ext cx="5120640" cy="4389120"/>
          </a:xfrm>
          <a:prstGeom prst="roundRect">
            <a:avLst/>
          </a:prstGeom>
          <a:solidFill>
            <a:srgbClr val="FFFFFF"/>
          </a:solidFill>
          <a:ln>
            <a:noFill/>
          </a:ln>
          <a:effectLst>
            <a:outerShdw blurRad="300000" dist="30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65392" y="1828800"/>
            <a:ext cx="4754880" cy="4023360"/>
          </a:xfrm>
          <a:prstGeom prst="rect">
            <a:avLst/>
          </a:prstGeom>
          <a:noFill/>
        </p:spPr>
        <p:txBody>
          <a:bodyPr wrap="square">
            <a:spAutoFit/>
          </a:bodyPr>
          <a:lstStyle/>
          <a:p>
            <a:pPr>
              <a:spcAft>
                <a:spcPts val="1400"/>
              </a:spcAft>
            </a:pPr>
            <a:r>
              <a:rPr sz="1800" b="1" i="0">
                <a:solidFill>
                  <a:srgbClr val="0F4C81"/>
                </a:solidFill>
                <a:latin typeface="Georgia"/>
              </a:rPr>
              <a:t>Optimal Threshold &amp; Campaign Performance</a:t>
            </a:r>
          </a:p>
          <a:p>
            <a:pPr>
              <a:spcBef>
                <a:spcPts val="800"/>
              </a:spcBef>
            </a:pPr>
            <a:r>
              <a:rPr sz="1300" b="1" i="0">
                <a:solidFill>
                  <a:srgbClr val="1F4E79"/>
                </a:solidFill>
                <a:latin typeface="Arial"/>
              </a:rPr>
              <a:t>• Optimized Decision Cutoff: T = 0.12</a:t>
            </a:r>
          </a:p>
          <a:p>
            <a:pPr>
              <a:spcAft>
                <a:spcPts val="600"/>
              </a:spcAft>
            </a:pPr>
            <a:r>
              <a:rPr sz="1150" b="0" i="0">
                <a:solidFill>
                  <a:srgbClr val="555555"/>
                </a:solidFill>
                <a:latin typeface="Arial"/>
              </a:rPr>
              <a:t>  Determined by evaluating our Gradient Boosting probability scores against retention economics to minimize total business loss.</a:t>
            </a:r>
          </a:p>
          <a:p>
            <a:pPr>
              <a:spcBef>
                <a:spcPts val="800"/>
              </a:spcBef>
            </a:pPr>
            <a:r>
              <a:rPr sz="1300" b="1" i="0">
                <a:solidFill>
                  <a:srgbClr val="1F4E79"/>
                </a:solidFill>
                <a:latin typeface="Arial"/>
              </a:rPr>
              <a:t>• Maximizing Churn Recovery (83.7% Capture)</a:t>
            </a:r>
          </a:p>
          <a:p>
            <a:pPr>
              <a:spcAft>
                <a:spcPts val="600"/>
              </a:spcAft>
            </a:pPr>
            <a:r>
              <a:rPr sz="1150" b="0" i="0">
                <a:solidFill>
                  <a:srgbClr val="555555"/>
                </a:solidFill>
                <a:latin typeface="Arial"/>
              </a:rPr>
              <a:t>  Lowers missed churners (FN) from 183 down to just 61, identifying 313 of the 374 actual churners in our holdout set.</a:t>
            </a:r>
          </a:p>
          <a:p>
            <a:pPr>
              <a:spcBef>
                <a:spcPts val="800"/>
              </a:spcBef>
            </a:pPr>
            <a:r>
              <a:rPr sz="1300" b="1" i="0">
                <a:solidFill>
                  <a:srgbClr val="1F4E79"/>
                </a:solidFill>
                <a:latin typeface="Arial"/>
              </a:rPr>
              <a:t>• Outstanding Campaign ROI: 147.6%</a:t>
            </a:r>
          </a:p>
          <a:p>
            <a:pPr>
              <a:spcAft>
                <a:spcPts val="600"/>
              </a:spcAft>
            </a:pPr>
            <a:r>
              <a:rPr sz="1150" b="0" i="0">
                <a:solidFill>
                  <a:srgbClr val="555555"/>
                </a:solidFill>
                <a:latin typeface="Arial"/>
              </a:rPr>
              <a:t>  Generates $46,650 in net revenue saved. Every dollar of your highly targeted $31,600 retention budget yields $1.48 in preserved customer equity.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3" name="TextBox 2"/>
          <p:cNvSpPr txBox="1"/>
          <p:nvPr/>
        </p:nvSpPr>
        <p:spPr>
          <a:xfrm>
            <a:off x="685800" y="365760"/>
            <a:ext cx="10817352" cy="274320"/>
          </a:xfrm>
          <a:prstGeom prst="rect">
            <a:avLst/>
          </a:prstGeom>
          <a:noFill/>
        </p:spPr>
        <p:txBody>
          <a:bodyPr wrap="square">
            <a:spAutoFit/>
          </a:bodyPr>
          <a:lstStyle/>
          <a:p>
            <a:pPr algn="l"/>
            <a:r>
              <a:rPr sz="1000" b="1" i="0">
                <a:solidFill>
                  <a:srgbClr val="E8985E"/>
                </a:solidFill>
                <a:latin typeface="Arial"/>
              </a:rPr>
              <a:t>TELCO CUSTOMER CHURN ANALYSIS</a:t>
            </a:r>
          </a:p>
        </p:txBody>
      </p:sp>
      <p:sp>
        <p:nvSpPr>
          <p:cNvPr id="4" name="TextBox 3"/>
          <p:cNvSpPr txBox="1"/>
          <p:nvPr/>
        </p:nvSpPr>
        <p:spPr>
          <a:xfrm>
            <a:off x="685800" y="594360"/>
            <a:ext cx="10817352" cy="731520"/>
          </a:xfrm>
          <a:prstGeom prst="rect">
            <a:avLst/>
          </a:prstGeom>
          <a:noFill/>
        </p:spPr>
        <p:txBody>
          <a:bodyPr wrap="square">
            <a:spAutoFit/>
          </a:bodyPr>
          <a:lstStyle/>
          <a:p>
            <a:pPr algn="l"/>
            <a:r>
              <a:rPr sz="2600" b="1" i="0">
                <a:solidFill>
                  <a:srgbClr val="0F4C81"/>
                </a:solidFill>
                <a:latin typeface="Georgia"/>
              </a:rPr>
              <a:t>Expected Business Loss Curve &amp; Targeted Retention Budget</a:t>
            </a:r>
          </a:p>
        </p:txBody>
      </p:sp>
      <p:sp>
        <p:nvSpPr>
          <p:cNvPr id="5" name="Rectangle 4"/>
          <p:cNvSpPr/>
          <p:nvPr/>
        </p:nvSpPr>
        <p:spPr>
          <a:xfrm>
            <a:off x="685800" y="1280160"/>
            <a:ext cx="10817352" cy="18288"/>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6309360"/>
            <a:ext cx="10817352" cy="274320"/>
          </a:xfrm>
          <a:prstGeom prst="rect">
            <a:avLst/>
          </a:prstGeom>
          <a:noFill/>
        </p:spPr>
        <p:txBody>
          <a:bodyPr wrap="square">
            <a:spAutoFit/>
          </a:bodyPr>
          <a:lstStyle/>
          <a:p>
            <a:pPr algn="l"/>
            <a:r>
              <a:rPr sz="900" b="0" i="0">
                <a:solidFill>
                  <a:srgbClr val="7E7E7E"/>
                </a:solidFill>
                <a:latin typeface="Arial"/>
              </a:rPr>
              <a:t>Executive Presentation  |  Grounded in Telco Customer Churn Business Reports  |  Slide 10 of 10</a:t>
            </a:r>
          </a:p>
        </p:txBody>
      </p:sp>
      <p:sp>
        <p:nvSpPr>
          <p:cNvPr id="7" name="Rounded Rectangle 6"/>
          <p:cNvSpPr/>
          <p:nvPr/>
        </p:nvSpPr>
        <p:spPr>
          <a:xfrm>
            <a:off x="685800" y="1645920"/>
            <a:ext cx="6858000" cy="4114800"/>
          </a:xfrm>
          <a:prstGeom prst="roundRect">
            <a:avLst/>
          </a:prstGeom>
          <a:solidFill>
            <a:srgbClr val="FFFFFF"/>
          </a:solidFill>
          <a:ln>
            <a:noFill/>
          </a:ln>
          <a:effectLst>
            <a:outerShdw blurRad="300000" dist="30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st_sensitive_threshold_curve.png"/>
          <p:cNvPicPr>
            <a:picLocks noChangeAspect="1"/>
          </p:cNvPicPr>
          <p:nvPr/>
        </p:nvPicPr>
        <p:blipFill>
          <a:blip r:embed="rId2"/>
          <a:stretch>
            <a:fillRect/>
          </a:stretch>
        </p:blipFill>
        <p:spPr>
          <a:xfrm>
            <a:off x="868680" y="1828800"/>
            <a:ext cx="6492240" cy="3749039"/>
          </a:xfrm>
          <a:prstGeom prst="rect">
            <a:avLst/>
          </a:prstGeom>
        </p:spPr>
      </p:pic>
      <p:sp>
        <p:nvSpPr>
          <p:cNvPr id="9" name="TextBox 8"/>
          <p:cNvSpPr txBox="1"/>
          <p:nvPr/>
        </p:nvSpPr>
        <p:spPr>
          <a:xfrm>
            <a:off x="7818120" y="1645920"/>
            <a:ext cx="3685032" cy="4114800"/>
          </a:xfrm>
          <a:prstGeom prst="rect">
            <a:avLst/>
          </a:prstGeom>
          <a:noFill/>
        </p:spPr>
        <p:txBody>
          <a:bodyPr wrap="square">
            <a:spAutoFit/>
          </a:bodyPr>
          <a:lstStyle/>
          <a:p>
            <a:pPr>
              <a:spcAft>
                <a:spcPts val="1400"/>
              </a:spcAft>
            </a:pPr>
            <a:r>
              <a:rPr sz="1800" b="1" i="0">
                <a:solidFill>
                  <a:srgbClr val="0F4C81"/>
                </a:solidFill>
                <a:latin typeface="Georgia"/>
              </a:rPr>
              <a:t>Visual Analysis Takeaways</a:t>
            </a:r>
          </a:p>
          <a:p>
            <a:pPr>
              <a:spcBef>
                <a:spcPts val="800"/>
              </a:spcBef>
            </a:pPr>
            <a:r>
              <a:rPr sz="1300" b="1" i="0">
                <a:solidFill>
                  <a:srgbClr val="1F4E79"/>
                </a:solidFill>
                <a:latin typeface="Arial"/>
              </a:rPr>
              <a:t>• Expected Loss Minimization</a:t>
            </a:r>
          </a:p>
          <a:p>
            <a:pPr>
              <a:spcAft>
                <a:spcPts val="600"/>
              </a:spcAft>
            </a:pPr>
            <a:r>
              <a:rPr sz="1100" b="0" i="0">
                <a:solidFill>
                  <a:srgbClr val="555555"/>
                </a:solidFill>
                <a:latin typeface="Arial"/>
              </a:rPr>
              <a:t>  The curve shows the optimal expected loss valley at T = 0.12, reducing business loss from $187,000 (Do Nothing baseline) down to just $140,350.</a:t>
            </a:r>
          </a:p>
          <a:p>
            <a:pPr>
              <a:spcBef>
                <a:spcPts val="800"/>
              </a:spcBef>
            </a:pPr>
            <a:r>
              <a:rPr sz="1300" b="1" i="0">
                <a:solidFill>
                  <a:srgbClr val="1F4E79"/>
                </a:solidFill>
                <a:latin typeface="Arial"/>
              </a:rPr>
              <a:t>• Dynamic Budget Allocation</a:t>
            </a:r>
          </a:p>
          <a:p>
            <a:pPr>
              <a:spcAft>
                <a:spcPts val="600"/>
              </a:spcAft>
            </a:pPr>
            <a:r>
              <a:rPr sz="1100" b="0" i="0">
                <a:solidFill>
                  <a:srgbClr val="555555"/>
                </a:solidFill>
                <a:latin typeface="Arial"/>
              </a:rPr>
              <a:t>  Operating at T = 0.12 consumes a highly targeted campaign budget of $31,600. Mass marketing (T = 0) would cost $70,450, severely diluting resources.</a:t>
            </a:r>
          </a:p>
          <a:p>
            <a:pPr>
              <a:spcBef>
                <a:spcPts val="800"/>
              </a:spcBef>
            </a:pPr>
            <a:r>
              <a:rPr sz="1300" b="1" i="0">
                <a:solidFill>
                  <a:srgbClr val="1F4E79"/>
                </a:solidFill>
                <a:latin typeface="Arial"/>
              </a:rPr>
              <a:t>• Operational Capacity Tool</a:t>
            </a:r>
          </a:p>
          <a:p>
            <a:pPr>
              <a:spcAft>
                <a:spcPts val="600"/>
              </a:spcAft>
            </a:pPr>
            <a:r>
              <a:rPr sz="1100" b="0" i="0">
                <a:solidFill>
                  <a:srgbClr val="555555"/>
                </a:solidFill>
                <a:latin typeface="Arial"/>
              </a:rPr>
              <a:t>  Executives can use this expected loss curve as a slider: adjusting the threshold upwards to match call-center limits, or downwards when retention capacity expands.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1493CF-E862-44B6-A6D2-647F297577B6}">
  <we:reference id="wa200010215" version="2.0.0.0" store="en-US" storeType="OMEX"/>
  <we:alternateReferences>
    <we:reference id="WA2000102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69</TotalTime>
  <Words>1426</Words>
  <Application>Microsoft Office PowerPoint</Application>
  <PresentationFormat>Widescreen</PresentationFormat>
  <Paragraphs>150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Henry K</dc:creator>
  <cp:keywords/>
  <dc:description>generated using python-pptx</dc:description>
  <cp:lastModifiedBy>Henry Kwong</cp:lastModifiedBy>
  <cp:revision>2</cp:revision>
  <dcterms:created xsi:type="dcterms:W3CDTF">2013-01-27T09:14:16Z</dcterms:created>
  <dcterms:modified xsi:type="dcterms:W3CDTF">2026-08-27T23:56:41Z</dcterms:modified>
  <cp:category/>
</cp:coreProperties>
</file>